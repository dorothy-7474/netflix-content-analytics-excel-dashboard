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292" r:id="rId5"/>
    <p:sldId id="275" r:id="rId6"/>
    <p:sldId id="296" r:id="rId7"/>
    <p:sldId id="279" r:id="rId8"/>
    <p:sldId id="282" r:id="rId9"/>
    <p:sldId id="301" r:id="rId10"/>
    <p:sldId id="284" r:id="rId11"/>
    <p:sldId id="297" r:id="rId12"/>
    <p:sldId id="298" r:id="rId13"/>
    <p:sldId id="299" r:id="rId14"/>
    <p:sldId id="300" r:id="rId15"/>
    <p:sldId id="277" r:id="rId16"/>
    <p:sldId id="302" r:id="rId17"/>
    <p:sldId id="294" r:id="rId18"/>
    <p:sldId id="289"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34D6A"/>
    <a:srgbClr val="FF0000"/>
    <a:srgbClr val="FABE79"/>
    <a:srgbClr val="D2141E"/>
    <a:srgbClr val="EB0005"/>
    <a:srgbClr val="010101"/>
    <a:srgbClr val="CC0000"/>
    <a:srgbClr val="E3EAED"/>
    <a:srgbClr val="DCE9F7"/>
    <a:srgbClr val="E7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634"/>
  </p:normalViewPr>
  <p:slideViewPr>
    <p:cSldViewPr snapToGrid="0" showGuides="1">
      <p:cViewPr varScale="1">
        <p:scale>
          <a:sx n="77" d="100"/>
          <a:sy n="77" d="100"/>
        </p:scale>
        <p:origin x="999" y="54"/>
      </p:cViewPr>
      <p:guideLst>
        <p:guide orient="horz" pos="1536"/>
        <p:guide pos="312"/>
      </p:guideLst>
    </p:cSldViewPr>
  </p:slideViewPr>
  <p:outlineViewPr>
    <p:cViewPr>
      <p:scale>
        <a:sx n="33" d="100"/>
        <a:sy n="33" d="100"/>
      </p:scale>
      <p:origin x="0" y="-1616"/>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10/21/2026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A894A48D-3417-BE20-3062-A366096904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a:extLst>
              <a:ext uri="{FF2B5EF4-FFF2-40B4-BE49-F238E27FC236}">
                <a16:creationId xmlns:a16="http://schemas.microsoft.com/office/drawing/2014/main" id="{AC9ED954-709D-51DC-3EA0-0E06FE1D72A5}"/>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a:extLst>
              <a:ext uri="{FF2B5EF4-FFF2-40B4-BE49-F238E27FC236}">
                <a16:creationId xmlns:a16="http://schemas.microsoft.com/office/drawing/2014/main" id="{1F57F2FB-2942-7663-E6DB-E3A976549D5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a:extLst>
              <a:ext uri="{FF2B5EF4-FFF2-40B4-BE49-F238E27FC236}">
                <a16:creationId xmlns:a16="http://schemas.microsoft.com/office/drawing/2014/main" id="{ED31FE42-8AA6-DC9C-5EE7-8737143C1DDB}"/>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58D246-FB21-4ACB-9068-6447CC7872F8}" type="datetimeFigureOut">
              <a:rPr lang="en-US" smtClean="0"/>
              <a:t>10/21/2026</a:t>
            </a:fld>
            <a:endParaRPr lang="en-US"/>
          </a:p>
        </p:txBody>
      </p:sp>
      <p:sp>
        <p:nvSpPr>
          <p:cNvPr id="12" name="Notes Placeholder 11">
            <a:extLst>
              <a:ext uri="{FF2B5EF4-FFF2-40B4-BE49-F238E27FC236}">
                <a16:creationId xmlns:a16="http://schemas.microsoft.com/office/drawing/2014/main" id="{5F659C92-43C4-05C5-9170-5CF256AF9975}"/>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74923A81-0599-8ECF-BDF0-A4898D46829C}"/>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BF3159-94EB-4F6B-8273-09F1A6B019E6}" type="slidenum">
              <a:rPr lang="en-US" smtClean="0"/>
              <a:t>‹#›</a:t>
            </a:fld>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3712883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a:t>
            </a:fld>
            <a:endParaRPr lang="en-US" altLang="zh-CN" noProof="0" dirty="0"/>
          </a:p>
        </p:txBody>
      </p:sp>
    </p:spTree>
    <p:extLst>
      <p:ext uri="{BB962C8B-B14F-4D97-AF65-F5344CB8AC3E}">
        <p14:creationId xmlns:p14="http://schemas.microsoft.com/office/powerpoint/2010/main" val="914374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3</a:t>
            </a:fld>
            <a:endParaRPr lang="en-US" altLang="zh-CN" dirty="0"/>
          </a:p>
        </p:txBody>
      </p:sp>
    </p:spTree>
    <p:extLst>
      <p:ext uri="{BB962C8B-B14F-4D97-AF65-F5344CB8AC3E}">
        <p14:creationId xmlns:p14="http://schemas.microsoft.com/office/powerpoint/2010/main" val="3064965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4</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5</a:t>
            </a:fld>
            <a:endParaRPr lang="en-US" altLang="zh-CN" noProof="0" dirty="0"/>
          </a:p>
        </p:txBody>
      </p:sp>
    </p:spTree>
    <p:extLst>
      <p:ext uri="{BB962C8B-B14F-4D97-AF65-F5344CB8AC3E}">
        <p14:creationId xmlns:p14="http://schemas.microsoft.com/office/powerpoint/2010/main" val="1105249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6</a:t>
            </a:fld>
            <a:endParaRPr lang="en-US" altLang="zh-CN" dirty="0"/>
          </a:p>
        </p:txBody>
      </p:sp>
    </p:spTree>
    <p:extLst>
      <p:ext uri="{BB962C8B-B14F-4D97-AF65-F5344CB8AC3E}">
        <p14:creationId xmlns:p14="http://schemas.microsoft.com/office/powerpoint/2010/main" val="9604765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34844979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12</a:t>
            </a:fld>
            <a:endParaRPr lang="en-US" altLang="zh-CN" noProof="0" dirty="0"/>
          </a:p>
        </p:txBody>
      </p:sp>
    </p:spTree>
    <p:extLst>
      <p:ext uri="{BB962C8B-B14F-4D97-AF65-F5344CB8AC3E}">
        <p14:creationId xmlns:p14="http://schemas.microsoft.com/office/powerpoint/2010/main" val="961386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14</a:t>
            </a:fld>
            <a:endParaRPr lang="en-US" altLang="zh-CN" noProof="0" dirty="0"/>
          </a:p>
        </p:txBody>
      </p:sp>
    </p:spTree>
    <p:extLst>
      <p:ext uri="{BB962C8B-B14F-4D97-AF65-F5344CB8AC3E}">
        <p14:creationId xmlns:p14="http://schemas.microsoft.com/office/powerpoint/2010/main" val="7993361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15</a:t>
            </a:fld>
            <a:endParaRPr lang="en-US" altLang="zh-CN" noProof="0" dirty="0"/>
          </a:p>
        </p:txBody>
      </p:sp>
    </p:spTree>
    <p:extLst>
      <p:ext uri="{BB962C8B-B14F-4D97-AF65-F5344CB8AC3E}">
        <p14:creationId xmlns:p14="http://schemas.microsoft.com/office/powerpoint/2010/main" val="30776703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lvl1pPr>
              <a:defRPr>
                <a:solidFill>
                  <a:schemeClr val="accent6"/>
                </a:solidFill>
              </a:defRPr>
            </a:lvl1pPr>
          </a:lstStyle>
          <a:p>
            <a:r>
              <a:rPr lang="en-US"/>
              <a:t>Click to edit Master title style</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Freeform: Shape 13">
            <a:extLst>
              <a:ext uri="{FF2B5EF4-FFF2-40B4-BE49-F238E27FC236}">
                <a16:creationId xmlns:a16="http://schemas.microsoft.com/office/drawing/2014/main"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5" name="Freeform: Shape 14">
            <a:extLst>
              <a:ext uri="{FF2B5EF4-FFF2-40B4-BE49-F238E27FC236}">
                <a16:creationId xmlns:a16="http://schemas.microsoft.com/office/drawing/2014/main"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24" name="Content placeholder 47" descr="Click icon to add picture">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a:t>
            </a:r>
            <a:r>
              <a:rPr lang="zh-CN" altLang="en-US" dirty="0"/>
              <a:t> </a:t>
            </a:r>
            <a:r>
              <a:rPr lang="en-US" altLang="zh-CN" dirty="0"/>
              <a:t>Master title style </a:t>
            </a:r>
          </a:p>
        </p:txBody>
      </p:sp>
      <p:sp>
        <p:nvSpPr>
          <p:cNvPr id="26" name="Content placeholder 47" descr="Click icon to add picture">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a:t>
            </a:r>
            <a:r>
              <a:rPr lang="zh-CN" altLang="en-US" dirty="0"/>
              <a:t> </a:t>
            </a:r>
            <a:r>
              <a:rPr lang="en-US" altLang="zh-CN" dirty="0"/>
              <a:t>Master title style </a:t>
            </a:r>
          </a:p>
        </p:txBody>
      </p:sp>
      <p:sp>
        <p:nvSpPr>
          <p:cNvPr id="33" name="Content placeholder 47" descr="Click icon to add picture">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descr="Click icon to add picture">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5" name="Content placeholder 47" descr="Click icon to add picture">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 name="Freeform: Shape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a:extLst>
              <a:ext uri="{FF2B5EF4-FFF2-40B4-BE49-F238E27FC236}">
                <a16:creationId xmlns:a16="http://schemas.microsoft.com/office/drawing/2014/main"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Shape 11">
            <a:extLst>
              <a:ext uri="{FF2B5EF4-FFF2-40B4-BE49-F238E27FC236}">
                <a16:creationId xmlns:a16="http://schemas.microsoft.com/office/drawing/2014/main"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a:xfrm>
            <a:off x="484632" y="6217920"/>
            <a:ext cx="4114800" cy="365125"/>
          </a:xfrm>
        </p:spPr>
        <p:txBody>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a:xfrm>
            <a:off x="11194169" y="6217920"/>
            <a:ext cx="458592" cy="365125"/>
          </a:xfrm>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862097048"/>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lvl1pPr>
              <a:defRPr>
                <a:solidFill>
                  <a:schemeClr val="accent6"/>
                </a:solidFill>
              </a:defRPr>
            </a:lvl1pPr>
          </a:lstStyle>
          <a:p>
            <a:r>
              <a:rPr lang="en-US"/>
              <a:t>Click to edit Master title style</a:t>
            </a:r>
            <a:endParaRPr lang="en-US" dirty="0"/>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solidFill>
                  <a:schemeClr val="accent6"/>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lvl1pPr>
              <a:defRPr>
                <a:solidFill>
                  <a:schemeClr val="accent6"/>
                </a:solidFill>
              </a:defRPr>
            </a:lvl1pPr>
          </a:lstStyle>
          <a:p>
            <a:r>
              <a:rPr lang="en-US"/>
              <a:t>Presentation title</a:t>
            </a:r>
            <a:endParaRPr lang="en-US"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4161259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endParaRPr lang="en-US" dirty="0"/>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endParaRPr lang="en-US" dirty="0"/>
          </a:p>
        </p:txBody>
      </p:sp>
    </p:spTree>
    <p:extLst>
      <p:ext uri="{BB962C8B-B14F-4D97-AF65-F5344CB8AC3E}">
        <p14:creationId xmlns:p14="http://schemas.microsoft.com/office/powerpoint/2010/main" val="340771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lvl1pPr>
              <a:defRPr>
                <a:solidFill>
                  <a:schemeClr val="accent6"/>
                </a:solidFill>
              </a:defRPr>
            </a:lvl1pPr>
          </a:lstStyle>
          <a:p>
            <a:r>
              <a:rPr lang="en-US"/>
              <a:t>Click to edit Master title style</a:t>
            </a:r>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dirty="0"/>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p:txBody>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7682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endParaRPr lang="en-US" dirty="0"/>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dirty="0"/>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dirty="0"/>
              <a:t>Click to edit </a:t>
            </a:r>
            <a:r>
              <a:rPr lang="en-US" altLang="zh-CN" dirty="0"/>
              <a:t>Text</a:t>
            </a:r>
            <a:r>
              <a:rPr lang="zh-CN" altLang="en-US" dirty="0"/>
              <a:t> </a:t>
            </a:r>
            <a:r>
              <a:rPr lang="en-US" dirty="0"/>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4"/>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dirty="0"/>
          </a:p>
        </p:txBody>
      </p:sp>
      <p:sp>
        <p:nvSpPr>
          <p:cNvPr id="6" name="Freeform: Shape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Freeform: Shape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p:txBody>
          <a:bodyPr>
            <a:noAutofit/>
          </a:bodyPr>
          <a:lstStyle/>
          <a:p>
            <a:r>
              <a:rPr lang="en-US" noProof="0"/>
              <a:t>Presentation title</a:t>
            </a:r>
            <a:endParaRPr lang="en-US" noProof="0" dirty="0"/>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12564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60" name="Content placehold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52" name="Content placeholder 47" descr="Click icon to add picture">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19" name="Content placeholder 47" descr="Click icon to add picture">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5" name="Content placeholder 47" descr="Click icon to add picture">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a:extLst>
              <a:ext uri="{FF2B5EF4-FFF2-40B4-BE49-F238E27FC236}">
                <a16:creationId xmlns:a16="http://schemas.microsoft.com/office/drawing/2014/main" id="{89028585-56FF-7B3D-783D-D06964F7C099}"/>
              </a:ext>
            </a:extLst>
          </p:cNvPr>
          <p:cNvSpPr>
            <a:spLocks noGrp="1"/>
          </p:cNvSpPr>
          <p:nvPr>
            <p:ph type="ftr" sz="quarter" idx="58"/>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2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lvl1pPr>
              <a:defRPr>
                <a:solidFill>
                  <a:schemeClr val="accent6"/>
                </a:solidFill>
              </a:defRPr>
            </a:lvl1pPr>
          </a:lstStyle>
          <a:p>
            <a:r>
              <a:rPr lang="en-US"/>
              <a:t>Click to edit Master title style</a:t>
            </a:r>
            <a:endParaRPr lang="en-US" dirty="0"/>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dirty="0"/>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74311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5" name="Freeform: Shape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Freeform: Shape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7" name="Freeform: Shape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69331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a:t>Presentation title</a:t>
            </a:r>
            <a:endParaRPr lang="en-US" noProof="0" dirty="0"/>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4985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solidFill>
                  <a:schemeClr val="accent6"/>
                </a:solidFill>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p:txBody>
          <a:bodyPr>
            <a:noAutofit/>
          </a:bodyPr>
          <a:lstStyle>
            <a:lvl1pPr>
              <a:defRPr>
                <a:solidFill>
                  <a:schemeClr val="accent6"/>
                </a:solidFill>
              </a:defRPr>
            </a:lvl1pPr>
          </a:lstStyle>
          <a:p>
            <a:r>
              <a:rPr lang="en-US"/>
              <a:t>Presentation title</a:t>
            </a:r>
            <a:endParaRPr lang="en-US" dirty="0"/>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5908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Freeform: Shape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8" name="Freeform: Shape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Free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613646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endParaRPr lang="en-US" dirty="0"/>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621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txBody>
          <a:bodyPr anchor="ctr">
            <a:noAutofit/>
          </a:bodyPr>
          <a:lstStyle>
            <a:lvl1pPr marL="0" indent="0" algn="ctr">
              <a:buNone/>
              <a:defRPr>
                <a:solidFill>
                  <a:schemeClr val="accent6"/>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userDrawn="1"/>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20" name="Freeform: Shape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lvl1pP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21327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accent6"/>
                </a:solidFill>
                <a:latin typeface="+mn-lt"/>
              </a:defRPr>
            </a:lvl1pPr>
          </a:lstStyle>
          <a:p>
            <a:fld id="{47FEACEE-25B4-4A2D-B147-27296E36371D}" type="slidenum">
              <a:rPr lang="en-US" altLang="zh-CN" smtClean="0"/>
              <a:pPr/>
              <a:t>‹#›</a:t>
            </a:fld>
            <a:endParaRPr lang="en-US" altLang="zh-CN"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accent6"/>
                </a:solidFill>
                <a:latin typeface="+mn-lt"/>
              </a:defRPr>
            </a:lvl1pPr>
          </a:lstStyle>
          <a:p>
            <a:r>
              <a:rPr lang="en-US"/>
              <a:t>Presentation title</a:t>
            </a:r>
            <a:endParaRPr lang="en-US"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52"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8" r:id="rId11"/>
    <p:sldLayoutId id="2147483661" r:id="rId12"/>
    <p:sldLayoutId id="2147483662" r:id="rId13"/>
    <p:sldLayoutId id="2147483663" r:id="rId14"/>
    <p:sldLayoutId id="2147483664" r:id="rId15"/>
    <p:sldLayoutId id="2147483665" r:id="rId16"/>
  </p:sldLayoutIdLst>
  <p:hf hdr="0" dt="0"/>
  <p:txStyles>
    <p:title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69F0BF1-1C28-863D-2EE0-777178D776DD}"/>
              </a:ext>
            </a:extLst>
          </p:cNvPr>
          <p:cNvSpPr/>
          <p:nvPr/>
        </p:nvSpPr>
        <p:spPr>
          <a:xfrm>
            <a:off x="305" y="0"/>
            <a:ext cx="12191695" cy="6858000"/>
          </a:xfrm>
          <a:prstGeom prst="rect">
            <a:avLst/>
          </a:prstGeom>
          <a:solidFill>
            <a:schemeClr val="tx1">
              <a:lumMod val="95000"/>
              <a:lumOff val="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 name="Rectangle 3">
            <a:extLst>
              <a:ext uri="{FF2B5EF4-FFF2-40B4-BE49-F238E27FC236}">
                <a16:creationId xmlns:a16="http://schemas.microsoft.com/office/drawing/2014/main" id="{A1DA6BF1-5FCD-7C18-86DD-E79154360FB6}"/>
              </a:ext>
            </a:extLst>
          </p:cNvPr>
          <p:cNvSpPr/>
          <p:nvPr/>
        </p:nvSpPr>
        <p:spPr>
          <a:xfrm>
            <a:off x="152" y="0"/>
            <a:ext cx="228600" cy="6858000"/>
          </a:xfrm>
          <a:prstGeom prst="rect">
            <a:avLst/>
          </a:prstGeom>
          <a:solidFill>
            <a:srgbClr val="D2141E"/>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 name="TextBox 3">
            <a:extLst>
              <a:ext uri="{FF2B5EF4-FFF2-40B4-BE49-F238E27FC236}">
                <a16:creationId xmlns:a16="http://schemas.microsoft.com/office/drawing/2014/main" id="{5A8CF171-CB12-4179-D02A-0F51D96F9C9D}"/>
              </a:ext>
            </a:extLst>
          </p:cNvPr>
          <p:cNvSpPr txBox="1"/>
          <p:nvPr/>
        </p:nvSpPr>
        <p:spPr>
          <a:xfrm>
            <a:off x="440817" y="674054"/>
            <a:ext cx="10515600" cy="137160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3800" b="1">
                <a:solidFill>
                  <a:srgbClr val="FFFFFF"/>
                </a:solidFill>
              </a:defRPr>
            </a:pPr>
            <a:r>
              <a:rPr dirty="0"/>
              <a:t>NETFLIX CONTENT ANALYTICS</a:t>
            </a:r>
          </a:p>
          <a:p>
            <a:pPr>
              <a:defRPr sz="2300">
                <a:solidFill>
                  <a:srgbClr val="DCDCDC"/>
                </a:solidFill>
              </a:defRPr>
            </a:pPr>
            <a:r>
              <a:rPr dirty="0"/>
              <a:t>Excel Dashboard &amp; Data Analysis Project</a:t>
            </a:r>
          </a:p>
        </p:txBody>
      </p:sp>
      <p:sp>
        <p:nvSpPr>
          <p:cNvPr id="8" name="TextBox 5">
            <a:extLst>
              <a:ext uri="{FF2B5EF4-FFF2-40B4-BE49-F238E27FC236}">
                <a16:creationId xmlns:a16="http://schemas.microsoft.com/office/drawing/2014/main" id="{878901DB-D606-9C3E-C47A-CBADE6D632C0}"/>
              </a:ext>
            </a:extLst>
          </p:cNvPr>
          <p:cNvSpPr txBox="1"/>
          <p:nvPr/>
        </p:nvSpPr>
        <p:spPr>
          <a:xfrm>
            <a:off x="640232" y="6446520"/>
            <a:ext cx="10789920" cy="22860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900">
                <a:solidFill>
                  <a:srgbClr val="696969"/>
                </a:solidFill>
              </a:defRPr>
            </a:pPr>
            <a:r>
              <a:rPr dirty="0"/>
              <a:t>Netflix Content Analytics | Excel Dashboard     1</a:t>
            </a:r>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640232" y="4299822"/>
            <a:ext cx="2013738" cy="760288"/>
          </a:xfrm>
        </p:spPr>
        <p:txBody>
          <a:bodyPr/>
          <a:lstStyle/>
          <a:p>
            <a:r>
              <a:rPr lang="en-US" dirty="0">
                <a:solidFill>
                  <a:schemeClr val="bg1"/>
                </a:solidFill>
              </a:rPr>
              <a:t>Prepared by </a:t>
            </a:r>
          </a:p>
          <a:p>
            <a:r>
              <a:rPr lang="en-US" dirty="0">
                <a:solidFill>
                  <a:schemeClr val="bg1"/>
                </a:solidFill>
              </a:rPr>
              <a:t>Dorothy Das</a:t>
            </a:r>
          </a:p>
        </p:txBody>
      </p:sp>
      <p:pic>
        <p:nvPicPr>
          <p:cNvPr id="30" name="Picture placeholder 29">
            <a:extLst>
              <a:ext uri="{FF2B5EF4-FFF2-40B4-BE49-F238E27FC236}">
                <a16:creationId xmlns:a16="http://schemas.microsoft.com/office/drawing/2014/main" id="{18C88B4D-F554-49C2-A23C-DFE94D4C835B}"/>
              </a:ext>
            </a:extLst>
          </p:cNvPr>
          <p:cNvPicPr>
            <a:picLocks noGrp="1" noChangeAspect="1"/>
          </p:cNvPicPr>
          <p:nvPr>
            <p:ph type="pic" sz="quarter" idx="47"/>
          </p:nvPr>
        </p:nvPicPr>
        <p:blipFill>
          <a:blip r:embed="rId3"/>
          <a:srcRect l="25544" r="25544"/>
          <a:stretch/>
        </p:blipFill>
        <p:spPr>
          <a:xfrm>
            <a:off x="6742557" y="821836"/>
            <a:ext cx="4405503" cy="5066346"/>
          </a:xfrm>
        </p:spPr>
      </p:pic>
      <p:sp>
        <p:nvSpPr>
          <p:cNvPr id="10" name="Freeform: Shape 11">
            <a:extLst>
              <a:ext uri="{FF2B5EF4-FFF2-40B4-BE49-F238E27FC236}">
                <a16:creationId xmlns:a16="http://schemas.microsoft.com/office/drawing/2014/main" id="{01A79B69-242C-3AEB-4A42-7A606A54C63A}"/>
              </a:ext>
              <a:ext uri="{C183D7F6-B498-43B3-948B-1728B52AA6E4}">
                <adec:decorative xmlns:adec="http://schemas.microsoft.com/office/drawing/2017/decorative" val="1"/>
              </a:ext>
            </a:extLst>
          </p:cNvPr>
          <p:cNvSpPr/>
          <p:nvPr/>
        </p:nvSpPr>
        <p:spPr>
          <a:xfrm>
            <a:off x="9857505" y="838985"/>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tx2">
                <a:lumMod val="50000"/>
                <a:lumOff val="5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4" name="Freeform: Shape 11">
            <a:extLst>
              <a:ext uri="{FF2B5EF4-FFF2-40B4-BE49-F238E27FC236}">
                <a16:creationId xmlns:a16="http://schemas.microsoft.com/office/drawing/2014/main" id="{E5D4DE6D-89C8-6FFF-287D-3F3BAD416CA1}"/>
              </a:ext>
              <a:ext uri="{C183D7F6-B498-43B3-948B-1728B52AA6E4}">
                <adec:decorative xmlns:adec="http://schemas.microsoft.com/office/drawing/2017/decorative" val="1"/>
              </a:ext>
            </a:extLst>
          </p:cNvPr>
          <p:cNvSpPr/>
          <p:nvPr/>
        </p:nvSpPr>
        <p:spPr>
          <a:xfrm>
            <a:off x="5974436" y="3694919"/>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alpha val="50196"/>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3" name="TextBox 4">
            <a:extLst>
              <a:ext uri="{FF2B5EF4-FFF2-40B4-BE49-F238E27FC236}">
                <a16:creationId xmlns:a16="http://schemas.microsoft.com/office/drawing/2014/main" id="{D6BBFA74-0975-6DF2-03D0-AFF6EC4392A5}"/>
              </a:ext>
            </a:extLst>
          </p:cNvPr>
          <p:cNvSpPr txBox="1"/>
          <p:nvPr/>
        </p:nvSpPr>
        <p:spPr>
          <a:xfrm>
            <a:off x="440817" y="1874560"/>
            <a:ext cx="5915222" cy="615553"/>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000">
                <a:solidFill>
                  <a:srgbClr val="FFFFFF"/>
                </a:solidFill>
              </a:defRPr>
            </a:pPr>
            <a:r>
              <a:rPr dirty="0"/>
              <a:t>From raw content data to interactive insights</a:t>
            </a:r>
          </a:p>
          <a:p>
            <a:pPr>
              <a:defRPr sz="1400">
                <a:solidFill>
                  <a:srgbClr val="BEBEBE"/>
                </a:solidFill>
              </a:defRPr>
            </a:pPr>
            <a:r>
              <a:rPr dirty="0"/>
              <a:t>Data Cleaning • Calculated Columns • PivotTables • KPIs • Charts • Slicers</a:t>
            </a:r>
          </a:p>
        </p:txBody>
      </p:sp>
      <p:cxnSp>
        <p:nvCxnSpPr>
          <p:cNvPr id="16" name="Straight Connector 15">
            <a:extLst>
              <a:ext uri="{FF2B5EF4-FFF2-40B4-BE49-F238E27FC236}">
                <a16:creationId xmlns:a16="http://schemas.microsoft.com/office/drawing/2014/main" id="{8CBCA975-9266-3B6F-6C7D-42E77D0FED47}"/>
              </a:ext>
            </a:extLst>
          </p:cNvPr>
          <p:cNvCxnSpPr/>
          <p:nvPr/>
        </p:nvCxnSpPr>
        <p:spPr>
          <a:xfrm>
            <a:off x="640232" y="4151586"/>
            <a:ext cx="3094882" cy="0"/>
          </a:xfrm>
          <a:prstGeom prst="line">
            <a:avLst/>
          </a:prstGeom>
          <a:ln w="57150">
            <a:solidFill>
              <a:srgbClr val="D2141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reeform: Shape 11">
            <a:extLst>
              <a:ext uri="{FF2B5EF4-FFF2-40B4-BE49-F238E27FC236}">
                <a16:creationId xmlns:a16="http://schemas.microsoft.com/office/drawing/2014/main" id="{79F3C1A7-A00E-DCA3-A540-40314F9BC548}"/>
              </a:ext>
              <a:ext uri="{C183D7F6-B498-43B3-948B-1728B52AA6E4}">
                <adec:decorative xmlns:adec="http://schemas.microsoft.com/office/drawing/2017/decorative" val="1"/>
              </a:ext>
            </a:extLst>
          </p:cNvPr>
          <p:cNvSpPr/>
          <p:nvPr/>
        </p:nvSpPr>
        <p:spPr>
          <a:xfrm>
            <a:off x="7314642" y="2316393"/>
            <a:ext cx="1979328" cy="2174240"/>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rgbClr val="EB000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4" name="Freeform: Shape 11">
            <a:extLst>
              <a:ext uri="{FF2B5EF4-FFF2-40B4-BE49-F238E27FC236}">
                <a16:creationId xmlns:a16="http://schemas.microsoft.com/office/drawing/2014/main" id="{D64ECF91-7134-B6CA-38E0-721A83AA9981}"/>
              </a:ext>
              <a:ext uri="{C183D7F6-B498-43B3-948B-1728B52AA6E4}">
                <adec:decorative xmlns:adec="http://schemas.microsoft.com/office/drawing/2017/decorative" val="1"/>
              </a:ext>
            </a:extLst>
          </p:cNvPr>
          <p:cNvSpPr/>
          <p:nvPr/>
        </p:nvSpPr>
        <p:spPr>
          <a:xfrm>
            <a:off x="8338253" y="507002"/>
            <a:ext cx="1979328" cy="2174240"/>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rgbClr val="EB000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2" name="Freeform: Shape 11">
            <a:extLst>
              <a:ext uri="{FF2B5EF4-FFF2-40B4-BE49-F238E27FC236}">
                <a16:creationId xmlns:a16="http://schemas.microsoft.com/office/drawing/2014/main" id="{A49198BE-18AF-028D-64BD-29C8B9BFAE52}"/>
              </a:ext>
              <a:ext uri="{C183D7F6-B498-43B3-948B-1728B52AA6E4}">
                <adec:decorative xmlns:adec="http://schemas.microsoft.com/office/drawing/2017/decorative" val="1"/>
              </a:ext>
            </a:extLst>
          </p:cNvPr>
          <p:cNvSpPr/>
          <p:nvPr/>
        </p:nvSpPr>
        <p:spPr>
          <a:xfrm>
            <a:off x="10433801" y="4098399"/>
            <a:ext cx="1979328" cy="2174240"/>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rgbClr val="EB000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1" name="Freeform: Shape 11">
            <a:extLst>
              <a:ext uri="{FF2B5EF4-FFF2-40B4-BE49-F238E27FC236}">
                <a16:creationId xmlns:a16="http://schemas.microsoft.com/office/drawing/2014/main" id="{ABF0BC46-8846-CFB2-CC81-4AD655FBB7E3}"/>
              </a:ext>
              <a:ext uri="{C183D7F6-B498-43B3-948B-1728B52AA6E4}">
                <adec:decorative xmlns:adec="http://schemas.microsoft.com/office/drawing/2017/decorative" val="1"/>
              </a:ext>
            </a:extLst>
          </p:cNvPr>
          <p:cNvSpPr/>
          <p:nvPr/>
        </p:nvSpPr>
        <p:spPr>
          <a:xfrm>
            <a:off x="6240927" y="512428"/>
            <a:ext cx="1979328" cy="2174240"/>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rgbClr val="EB000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6" name="Freeform: Shape 11">
            <a:extLst>
              <a:ext uri="{FF2B5EF4-FFF2-40B4-BE49-F238E27FC236}">
                <a16:creationId xmlns:a16="http://schemas.microsoft.com/office/drawing/2014/main" id="{C0778827-F8F1-870D-6DDA-CB34C62FDA54}"/>
              </a:ext>
              <a:ext uri="{C183D7F6-B498-43B3-948B-1728B52AA6E4}">
                <adec:decorative xmlns:adec="http://schemas.microsoft.com/office/drawing/2017/decorative" val="1"/>
              </a:ext>
            </a:extLst>
          </p:cNvPr>
          <p:cNvSpPr/>
          <p:nvPr/>
        </p:nvSpPr>
        <p:spPr>
          <a:xfrm>
            <a:off x="9376551" y="2295449"/>
            <a:ext cx="1979328" cy="2174240"/>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rgbClr val="EB000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4" name="Freeform: Shape 11">
            <a:extLst>
              <a:ext uri="{FF2B5EF4-FFF2-40B4-BE49-F238E27FC236}">
                <a16:creationId xmlns:a16="http://schemas.microsoft.com/office/drawing/2014/main" id="{C47ECB97-57E4-D9D2-79D4-66D9E1DFA7E3}"/>
              </a:ext>
              <a:ext uri="{C183D7F6-B498-43B3-948B-1728B52AA6E4}">
                <adec:decorative xmlns:adec="http://schemas.microsoft.com/office/drawing/2017/decorative" val="1"/>
              </a:ext>
            </a:extLst>
          </p:cNvPr>
          <p:cNvSpPr/>
          <p:nvPr/>
        </p:nvSpPr>
        <p:spPr>
          <a:xfrm>
            <a:off x="8338253" y="4098399"/>
            <a:ext cx="1979328" cy="2174240"/>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rgbClr val="EB000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reeform: Shape 11">
            <a:extLst>
              <a:ext uri="{FF2B5EF4-FFF2-40B4-BE49-F238E27FC236}">
                <a16:creationId xmlns:a16="http://schemas.microsoft.com/office/drawing/2014/main" id="{AE87AEC5-D230-4B11-05A5-4FCBA3F91838}"/>
              </a:ext>
              <a:ext uri="{C183D7F6-B498-43B3-948B-1728B52AA6E4}">
                <adec:decorative xmlns:adec="http://schemas.microsoft.com/office/drawing/2017/decorative" val="1"/>
              </a:ext>
            </a:extLst>
          </p:cNvPr>
          <p:cNvSpPr/>
          <p:nvPr/>
        </p:nvSpPr>
        <p:spPr>
          <a:xfrm>
            <a:off x="6266868" y="4043680"/>
            <a:ext cx="1979328" cy="2174240"/>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rgbClr val="EB000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9" name="Title 18">
            <a:extLst>
              <a:ext uri="{FF2B5EF4-FFF2-40B4-BE49-F238E27FC236}">
                <a16:creationId xmlns:a16="http://schemas.microsoft.com/office/drawing/2014/main" id="{5DF64211-DCD8-B458-DBD2-EBDA7AE3396F}"/>
              </a:ext>
            </a:extLst>
          </p:cNvPr>
          <p:cNvSpPr>
            <a:spLocks noGrp="1"/>
          </p:cNvSpPr>
          <p:nvPr>
            <p:ph type="title"/>
          </p:nvPr>
        </p:nvSpPr>
        <p:spPr/>
        <p:txBody>
          <a:bodyPr/>
          <a:lstStyle/>
          <a:p>
            <a:r>
              <a:rPr lang="en-US" altLang="zh-CN" dirty="0"/>
              <a:t>Agenda</a:t>
            </a:r>
            <a:endParaRPr lang="en-US" dirty="0"/>
          </a:p>
        </p:txBody>
      </p:sp>
      <p:sp>
        <p:nvSpPr>
          <p:cNvPr id="16" name="Text Placeholder 15">
            <a:extLst>
              <a:ext uri="{FF2B5EF4-FFF2-40B4-BE49-F238E27FC236}">
                <a16:creationId xmlns:a16="http://schemas.microsoft.com/office/drawing/2014/main" id="{8FEA3BB9-F064-CFBE-C0BE-BB7A22A4DCFC}"/>
              </a:ext>
            </a:extLst>
          </p:cNvPr>
          <p:cNvSpPr>
            <a:spLocks noGrp="1"/>
          </p:cNvSpPr>
          <p:nvPr>
            <p:ph type="body" sz="quarter" idx="28"/>
          </p:nvPr>
        </p:nvSpPr>
        <p:spPr/>
        <p:txBody>
          <a:bodyPr/>
          <a:lstStyle/>
          <a:p>
            <a:r>
              <a:rPr lang="en-US" dirty="0">
                <a:solidFill>
                  <a:schemeClr val="bg1"/>
                </a:solidFill>
              </a:rPr>
              <a:t>Objective</a:t>
            </a:r>
          </a:p>
        </p:txBody>
      </p:sp>
      <p:sp>
        <p:nvSpPr>
          <p:cNvPr id="9" name="Text Placeholder 8">
            <a:extLst>
              <a:ext uri="{FF2B5EF4-FFF2-40B4-BE49-F238E27FC236}">
                <a16:creationId xmlns:a16="http://schemas.microsoft.com/office/drawing/2014/main" id="{78024C77-A2F8-1ABA-5412-E6BB88B5FA1B}"/>
              </a:ext>
            </a:extLst>
          </p:cNvPr>
          <p:cNvSpPr>
            <a:spLocks noGrp="1"/>
          </p:cNvSpPr>
          <p:nvPr>
            <p:ph type="body" sz="quarter" idx="29"/>
          </p:nvPr>
        </p:nvSpPr>
        <p:spPr/>
        <p:txBody>
          <a:bodyPr/>
          <a:lstStyle/>
          <a:p>
            <a:r>
              <a:rPr lang="en-US" dirty="0">
                <a:solidFill>
                  <a:schemeClr val="bg1"/>
                </a:solidFill>
              </a:rPr>
              <a:t>Dataset Overview</a:t>
            </a:r>
          </a:p>
        </p:txBody>
      </p:sp>
      <p:sp>
        <p:nvSpPr>
          <p:cNvPr id="18" name="Text Placeholder 17">
            <a:extLst>
              <a:ext uri="{FF2B5EF4-FFF2-40B4-BE49-F238E27FC236}">
                <a16:creationId xmlns:a16="http://schemas.microsoft.com/office/drawing/2014/main" id="{241202DB-E499-EB19-8A48-A3301DA59ED7}"/>
              </a:ext>
            </a:extLst>
          </p:cNvPr>
          <p:cNvSpPr>
            <a:spLocks noGrp="1"/>
          </p:cNvSpPr>
          <p:nvPr>
            <p:ph type="body" sz="quarter" idx="30"/>
          </p:nvPr>
        </p:nvSpPr>
        <p:spPr/>
        <p:txBody>
          <a:bodyPr/>
          <a:lstStyle/>
          <a:p>
            <a:r>
              <a:rPr lang="en-US" dirty="0">
                <a:solidFill>
                  <a:schemeClr val="bg1"/>
                </a:solidFill>
              </a:rPr>
              <a:t>Data Cleaning</a:t>
            </a:r>
          </a:p>
        </p:txBody>
      </p:sp>
      <p:sp>
        <p:nvSpPr>
          <p:cNvPr id="22" name="Text Placeholder 21">
            <a:extLst>
              <a:ext uri="{FF2B5EF4-FFF2-40B4-BE49-F238E27FC236}">
                <a16:creationId xmlns:a16="http://schemas.microsoft.com/office/drawing/2014/main" id="{D5402852-C1AD-6A4E-DAA7-0AE582A742FD}"/>
              </a:ext>
            </a:extLst>
          </p:cNvPr>
          <p:cNvSpPr>
            <a:spLocks noGrp="1"/>
          </p:cNvSpPr>
          <p:nvPr>
            <p:ph type="body" sz="quarter" idx="31"/>
          </p:nvPr>
        </p:nvSpPr>
        <p:spPr/>
        <p:txBody>
          <a:bodyPr/>
          <a:lstStyle/>
          <a:p>
            <a:r>
              <a:rPr lang="en-US" dirty="0">
                <a:solidFill>
                  <a:schemeClr val="bg1"/>
                </a:solidFill>
              </a:rPr>
              <a:t>Calculated Columns</a:t>
            </a:r>
          </a:p>
        </p:txBody>
      </p:sp>
      <p:sp>
        <p:nvSpPr>
          <p:cNvPr id="24" name="Text Placeholder 23">
            <a:extLst>
              <a:ext uri="{FF2B5EF4-FFF2-40B4-BE49-F238E27FC236}">
                <a16:creationId xmlns:a16="http://schemas.microsoft.com/office/drawing/2014/main" id="{ABF1D337-2A3C-A0FB-A6CD-5E4B9D6DFD91}"/>
              </a:ext>
            </a:extLst>
          </p:cNvPr>
          <p:cNvSpPr>
            <a:spLocks noGrp="1"/>
          </p:cNvSpPr>
          <p:nvPr>
            <p:ph type="body" sz="quarter" idx="32"/>
          </p:nvPr>
        </p:nvSpPr>
        <p:spPr>
          <a:xfrm>
            <a:off x="6333068" y="4579626"/>
            <a:ext cx="1913128" cy="1075689"/>
          </a:xfrm>
          <a:noFill/>
        </p:spPr>
        <p:txBody>
          <a:bodyPr/>
          <a:lstStyle/>
          <a:p>
            <a:r>
              <a:rPr lang="en-US" dirty="0">
                <a:solidFill>
                  <a:schemeClr val="bg1"/>
                </a:solidFill>
              </a:rPr>
              <a:t>Chart Specification</a:t>
            </a:r>
          </a:p>
        </p:txBody>
      </p:sp>
      <p:sp>
        <p:nvSpPr>
          <p:cNvPr id="21" name="Footer Placeholder 19">
            <a:extLst>
              <a:ext uri="{FF2B5EF4-FFF2-40B4-BE49-F238E27FC236}">
                <a16:creationId xmlns:a16="http://schemas.microsoft.com/office/drawing/2014/main" id="{A6E539FA-B60E-5585-524F-1BFA8C5B3E2F}"/>
              </a:ext>
            </a:extLst>
          </p:cNvPr>
          <p:cNvSpPr txBox="1">
            <a:spLocks/>
          </p:cNvSpPr>
          <p:nvPr/>
        </p:nvSpPr>
        <p:spPr>
          <a:xfrm>
            <a:off x="486699" y="6085719"/>
            <a:ext cx="4114800" cy="365125"/>
          </a:xfrm>
          <a:prstGeom prst="rect">
            <a:avLst/>
          </a:prstGeom>
        </p:spPr>
        <p:txBody>
          <a:bodyPr anchor="ctr"/>
          <a:lstStyle>
            <a:defPPr>
              <a:defRPr lang="zh-CN"/>
            </a:defPPr>
            <a:lvl1pPr marL="0" algn="l"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bg1"/>
                </a:solidFill>
                <a:effectLst/>
                <a:uLnTx/>
                <a:uFillTx/>
              </a:rPr>
              <a:t>Presentation Title</a:t>
            </a:r>
          </a:p>
        </p:txBody>
      </p:sp>
      <p:sp>
        <p:nvSpPr>
          <p:cNvPr id="8" name="Footer Placeholder 7">
            <a:extLst>
              <a:ext uri="{FF2B5EF4-FFF2-40B4-BE49-F238E27FC236}">
                <a16:creationId xmlns:a16="http://schemas.microsoft.com/office/drawing/2014/main" id="{D36D0CF6-7418-9349-F7A8-045EA96B2D03}"/>
              </a:ext>
            </a:extLst>
          </p:cNvPr>
          <p:cNvSpPr>
            <a:spLocks noGrp="1"/>
          </p:cNvSpPr>
          <p:nvPr>
            <p:ph type="ftr" sz="quarter" idx="33"/>
          </p:nvPr>
        </p:nvSpPr>
        <p:spPr/>
        <p:txBody>
          <a:bodyPr/>
          <a:lstStyle/>
          <a:p>
            <a:r>
              <a:rPr lang="en-IN" dirty="0"/>
              <a:t>Netflix Content Analytics | Excel Dashboard</a:t>
            </a:r>
            <a:endParaRPr lang="en-US" dirty="0"/>
          </a:p>
        </p:txBody>
      </p:sp>
      <p:sp>
        <p:nvSpPr>
          <p:cNvPr id="10" name="Slide Number Placeholder 9">
            <a:extLst>
              <a:ext uri="{FF2B5EF4-FFF2-40B4-BE49-F238E27FC236}">
                <a16:creationId xmlns:a16="http://schemas.microsoft.com/office/drawing/2014/main" id="{CBE681AB-301C-4DC8-7FBD-FAA2CC6606AE}"/>
              </a:ext>
            </a:extLst>
          </p:cNvPr>
          <p:cNvSpPr>
            <a:spLocks noGrp="1"/>
          </p:cNvSpPr>
          <p:nvPr>
            <p:ph type="sldNum" sz="quarter" idx="34"/>
          </p:nvPr>
        </p:nvSpPr>
        <p:spPr/>
        <p:txBody>
          <a:bodyPr/>
          <a:lstStyle/>
          <a:p>
            <a:fld id="{47FEACEE-25B4-4A2D-B147-27296E36371D}" type="slidenum">
              <a:rPr lang="en-US" altLang="zh-CN" smtClean="0"/>
              <a:pPr/>
              <a:t>2</a:t>
            </a:fld>
            <a:endParaRPr lang="en-US" altLang="zh-CN" dirty="0"/>
          </a:p>
        </p:txBody>
      </p:sp>
      <p:sp>
        <p:nvSpPr>
          <p:cNvPr id="3" name="Text Placeholder 23">
            <a:extLst>
              <a:ext uri="{FF2B5EF4-FFF2-40B4-BE49-F238E27FC236}">
                <a16:creationId xmlns:a16="http://schemas.microsoft.com/office/drawing/2014/main" id="{5EB13FA5-3143-114C-2388-50B9FE465C4E}"/>
              </a:ext>
            </a:extLst>
          </p:cNvPr>
          <p:cNvSpPr txBox="1">
            <a:spLocks/>
          </p:cNvSpPr>
          <p:nvPr/>
        </p:nvSpPr>
        <p:spPr>
          <a:xfrm>
            <a:off x="8371353" y="4647675"/>
            <a:ext cx="1913128" cy="1075689"/>
          </a:xfrm>
          <a:prstGeom prst="rect">
            <a:avLst/>
          </a:prstGeom>
        </p:spPr>
        <p:txBody>
          <a:bodyPr vert="horz" lIns="91440" tIns="45720" rIns="91440" bIns="45720" rtlCol="0" anchor="ctr">
            <a:noAutofit/>
          </a:bodyPr>
          <a:lstStyle>
            <a:lvl1pPr marL="0" indent="0" algn="ctr" defTabSz="914400" rtl="0" eaLnBrk="1" latinLnBrk="0" hangingPunct="1">
              <a:lnSpc>
                <a:spcPct val="113000"/>
              </a:lnSpc>
              <a:spcBef>
                <a:spcPts val="1000"/>
              </a:spcBef>
              <a:buFont typeface="Arial" panose="020B0604020202020204" pitchFamily="34" charset="0"/>
              <a:buNone/>
              <a:defRPr sz="1800" b="0" i="0" kern="1200">
                <a:solidFill>
                  <a:schemeClr val="accent6"/>
                </a:solidFill>
                <a:latin typeface="Abadi" panose="020B06040201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rPr>
              <a:t>Dashboard Layout</a:t>
            </a:r>
          </a:p>
        </p:txBody>
      </p:sp>
      <p:sp>
        <p:nvSpPr>
          <p:cNvPr id="13" name="Text Placeholder 23">
            <a:extLst>
              <a:ext uri="{FF2B5EF4-FFF2-40B4-BE49-F238E27FC236}">
                <a16:creationId xmlns:a16="http://schemas.microsoft.com/office/drawing/2014/main" id="{37256388-871D-D62F-9182-7A18598256FF}"/>
              </a:ext>
            </a:extLst>
          </p:cNvPr>
          <p:cNvSpPr txBox="1">
            <a:spLocks/>
          </p:cNvSpPr>
          <p:nvPr/>
        </p:nvSpPr>
        <p:spPr>
          <a:xfrm>
            <a:off x="10409638" y="4668924"/>
            <a:ext cx="1913128" cy="1075689"/>
          </a:xfrm>
          <a:prstGeom prst="rect">
            <a:avLst/>
          </a:prstGeom>
        </p:spPr>
        <p:txBody>
          <a:bodyPr vert="horz" lIns="91440" tIns="45720" rIns="91440" bIns="45720" rtlCol="0" anchor="ctr">
            <a:noAutofit/>
          </a:bodyPr>
          <a:lstStyle>
            <a:lvl1pPr marL="0" indent="0" algn="ctr" defTabSz="914400" rtl="0" eaLnBrk="1" latinLnBrk="0" hangingPunct="1">
              <a:lnSpc>
                <a:spcPct val="113000"/>
              </a:lnSpc>
              <a:spcBef>
                <a:spcPts val="1000"/>
              </a:spcBef>
              <a:buFont typeface="Arial" panose="020B0604020202020204" pitchFamily="34" charset="0"/>
              <a:buNone/>
              <a:defRPr sz="1800" b="0" i="0" kern="1200">
                <a:solidFill>
                  <a:schemeClr val="accent6"/>
                </a:solidFill>
                <a:latin typeface="Abadi" panose="020B06040201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rPr>
              <a:t>Key Insight and Recommendation</a:t>
            </a:r>
          </a:p>
        </p:txBody>
      </p:sp>
    </p:spTree>
    <p:extLst>
      <p:ext uri="{BB962C8B-B14F-4D97-AF65-F5344CB8AC3E}">
        <p14:creationId xmlns:p14="http://schemas.microsoft.com/office/powerpoint/2010/main" val="2775535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3">
            <a:alpha val="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p:txBody>
          <a:bodyPr/>
          <a:lstStyle/>
          <a:p>
            <a:r>
              <a:rPr lang="en-US" dirty="0"/>
              <a:t>Objectives</a:t>
            </a:r>
          </a:p>
        </p:txBody>
      </p:sp>
      <p:pic>
        <p:nvPicPr>
          <p:cNvPr id="192" name="Picture Placeholder 191" descr="Abacus with solid fill">
            <a:extLst>
              <a:ext uri="{FF2B5EF4-FFF2-40B4-BE49-F238E27FC236}">
                <a16:creationId xmlns:a16="http://schemas.microsoft.com/office/drawing/2014/main" id="{03D5E3D1-D423-EF5A-EE43-00CF1BD7FF63}"/>
              </a:ext>
            </a:extLst>
          </p:cNvPr>
          <p:cNvPicPr>
            <a:picLocks noGrp="1" noChangeAspect="1"/>
          </p:cNvPicPr>
          <p:nvPr>
            <p:ph type="pic" sz="quarter" idx="36"/>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5182" r="5182"/>
          <a:stretch>
            <a:fillRect/>
          </a:stretch>
        </p:blipFill>
        <p:spPr>
          <a:xfrm>
            <a:off x="4763831" y="2017514"/>
            <a:ext cx="507778" cy="565882"/>
          </a:xfrm>
        </p:spPr>
      </p:pic>
      <p:sp>
        <p:nvSpPr>
          <p:cNvPr id="9" name="Text Placeholder 8">
            <a:extLst>
              <a:ext uri="{FF2B5EF4-FFF2-40B4-BE49-F238E27FC236}">
                <a16:creationId xmlns:a16="http://schemas.microsoft.com/office/drawing/2014/main" id="{FA96FE97-5E27-FC36-5E3A-511A31E6C789}"/>
              </a:ext>
            </a:extLst>
          </p:cNvPr>
          <p:cNvSpPr>
            <a:spLocks noGrp="1"/>
          </p:cNvSpPr>
          <p:nvPr>
            <p:ph type="body" sz="quarter" idx="27"/>
          </p:nvPr>
        </p:nvSpPr>
        <p:spPr>
          <a:xfrm>
            <a:off x="5271609" y="1104761"/>
            <a:ext cx="5922560" cy="682315"/>
          </a:xfrm>
        </p:spPr>
        <p:txBody>
          <a:bodyPr/>
          <a:lstStyle/>
          <a:p>
            <a:pPr>
              <a:spcAft>
                <a:spcPts val="1200"/>
              </a:spcAft>
              <a:defRPr sz="2100" b="0">
                <a:solidFill>
                  <a:srgbClr val="141414"/>
                </a:solidFill>
              </a:defRPr>
            </a:pPr>
            <a:r>
              <a:rPr lang="en-US" dirty="0"/>
              <a:t>Build an interactive Excel dashboard for content-level analysis.</a:t>
            </a:r>
          </a:p>
        </p:txBody>
      </p:sp>
      <p:pic>
        <p:nvPicPr>
          <p:cNvPr id="194" name="Picture Placeholder 193" descr="Bar graph with upward trend with solid fill">
            <a:extLst>
              <a:ext uri="{FF2B5EF4-FFF2-40B4-BE49-F238E27FC236}">
                <a16:creationId xmlns:a16="http://schemas.microsoft.com/office/drawing/2014/main" id="{FAB9DE8A-4935-A3E0-0122-F76CDEAC29D1}"/>
              </a:ext>
            </a:extLst>
          </p:cNvPr>
          <p:cNvPicPr>
            <a:picLocks noGrp="1" noChangeAspect="1"/>
          </p:cNvPicPr>
          <p:nvPr>
            <p:ph type="pic" sz="quarter" idx="37"/>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2661" r="2661"/>
          <a:stretch>
            <a:fillRect/>
          </a:stretch>
        </p:blipFill>
        <p:spPr>
          <a:xfrm>
            <a:off x="4763831" y="3047433"/>
            <a:ext cx="536270" cy="565882"/>
          </a:xfrm>
        </p:spPr>
      </p:pic>
      <p:pic>
        <p:nvPicPr>
          <p:cNvPr id="196" name="Picture Placeholder 195" descr="Link with solid fill">
            <a:extLst>
              <a:ext uri="{FF2B5EF4-FFF2-40B4-BE49-F238E27FC236}">
                <a16:creationId xmlns:a16="http://schemas.microsoft.com/office/drawing/2014/main" id="{B21D7164-3991-2960-0F80-CB302359CD8D}"/>
              </a:ext>
            </a:extLst>
          </p:cNvPr>
          <p:cNvPicPr>
            <a:picLocks noGrp="1" noChangeAspect="1"/>
          </p:cNvPicPr>
          <p:nvPr>
            <p:ph type="pic" sz="quarter" idx="38"/>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l="2528" r="2528"/>
          <a:stretch>
            <a:fillRect/>
          </a:stretch>
        </p:blipFill>
        <p:spPr>
          <a:xfrm>
            <a:off x="4806459" y="5182701"/>
            <a:ext cx="536270" cy="565882"/>
          </a:xfrm>
        </p:spPr>
      </p:pic>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3</a:t>
            </a:fld>
            <a:endParaRPr lang="en-US" altLang="zh-CN" dirty="0"/>
          </a:p>
        </p:txBody>
      </p:sp>
      <p:pic>
        <p:nvPicPr>
          <p:cNvPr id="3" name="Graphic 2" descr="Bullseye with solid fill">
            <a:extLst>
              <a:ext uri="{FF2B5EF4-FFF2-40B4-BE49-F238E27FC236}">
                <a16:creationId xmlns:a16="http://schemas.microsoft.com/office/drawing/2014/main" id="{AA39C069-3F85-6345-3746-AC526467C67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695093" y="1091925"/>
            <a:ext cx="565882" cy="565882"/>
          </a:xfrm>
          <a:prstGeom prst="rect">
            <a:avLst/>
          </a:prstGeom>
        </p:spPr>
      </p:pic>
      <p:sp>
        <p:nvSpPr>
          <p:cNvPr id="4" name="Text Placeholder 8">
            <a:extLst>
              <a:ext uri="{FF2B5EF4-FFF2-40B4-BE49-F238E27FC236}">
                <a16:creationId xmlns:a16="http://schemas.microsoft.com/office/drawing/2014/main" id="{A9F0F2DA-E096-09A3-061B-7EF66FEF70D2}"/>
              </a:ext>
            </a:extLst>
          </p:cNvPr>
          <p:cNvSpPr txBox="1">
            <a:spLocks/>
          </p:cNvSpPr>
          <p:nvPr/>
        </p:nvSpPr>
        <p:spPr>
          <a:xfrm>
            <a:off x="5342729" y="1941169"/>
            <a:ext cx="5922560" cy="682315"/>
          </a:xfrm>
          <a:prstGeom prst="rect">
            <a:avLst/>
          </a:prstGeom>
        </p:spPr>
        <p:txBody>
          <a:bodyPr vert="horz" lIns="91440" tIns="45720" rIns="91440" bIns="45720" rtlCol="0" anchor="b">
            <a:noAutofit/>
          </a:bodyPr>
          <a:lstStyle>
            <a:lvl1pPr marL="0" indent="0" algn="l" defTabSz="914400" rtl="0" eaLnBrk="1" latinLnBrk="0" hangingPunct="1">
              <a:lnSpc>
                <a:spcPct val="100000"/>
              </a:lnSpc>
              <a:spcBef>
                <a:spcPts val="1000"/>
              </a:spcBef>
              <a:buFont typeface="Arial" panose="020B0604020202020204" pitchFamily="34" charset="0"/>
              <a:buNone/>
              <a:defRPr sz="1800" b="1" i="0" kern="1200">
                <a:solidFill>
                  <a:schemeClr val="accent6"/>
                </a:solidFill>
                <a:latin typeface="+mn-lt"/>
                <a:ea typeface="+mn-ea"/>
                <a:cs typeface="Posterama" panose="020B0504020200020000"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200"/>
              </a:spcAft>
              <a:defRPr sz="2100" b="0">
                <a:solidFill>
                  <a:srgbClr val="141414"/>
                </a:solidFill>
              </a:defRPr>
            </a:pPr>
            <a:r>
              <a:rPr lang="en-US" dirty="0"/>
              <a:t>Transform raw fields into meaningful analytical dimensions.</a:t>
            </a:r>
          </a:p>
        </p:txBody>
      </p:sp>
      <p:sp>
        <p:nvSpPr>
          <p:cNvPr id="7" name="Text Placeholder 8">
            <a:extLst>
              <a:ext uri="{FF2B5EF4-FFF2-40B4-BE49-F238E27FC236}">
                <a16:creationId xmlns:a16="http://schemas.microsoft.com/office/drawing/2014/main" id="{F0D928BE-96DC-61AE-70F3-0382B068B7AF}"/>
              </a:ext>
            </a:extLst>
          </p:cNvPr>
          <p:cNvSpPr txBox="1">
            <a:spLocks/>
          </p:cNvSpPr>
          <p:nvPr/>
        </p:nvSpPr>
        <p:spPr>
          <a:xfrm>
            <a:off x="5342729" y="2989217"/>
            <a:ext cx="5922560" cy="682315"/>
          </a:xfrm>
          <a:prstGeom prst="rect">
            <a:avLst/>
          </a:prstGeom>
        </p:spPr>
        <p:txBody>
          <a:bodyPr vert="horz" lIns="91440" tIns="45720" rIns="91440" bIns="45720" rtlCol="0" anchor="b">
            <a:noAutofit/>
          </a:bodyPr>
          <a:lstStyle>
            <a:lvl1pPr marL="0" indent="0" algn="l" defTabSz="914400" rtl="0" eaLnBrk="1" latinLnBrk="0" hangingPunct="1">
              <a:lnSpc>
                <a:spcPct val="100000"/>
              </a:lnSpc>
              <a:spcBef>
                <a:spcPts val="1000"/>
              </a:spcBef>
              <a:buFont typeface="Arial" panose="020B0604020202020204" pitchFamily="34" charset="0"/>
              <a:buNone/>
              <a:defRPr sz="1800" b="1" i="0" kern="1200">
                <a:solidFill>
                  <a:schemeClr val="accent6"/>
                </a:solidFill>
                <a:latin typeface="+mn-lt"/>
                <a:ea typeface="+mn-ea"/>
                <a:cs typeface="Posterama" panose="020B0504020200020000"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200"/>
              </a:spcAft>
              <a:defRPr sz="2100" b="0">
                <a:solidFill>
                  <a:srgbClr val="141414"/>
                </a:solidFill>
              </a:defRPr>
            </a:pPr>
            <a:r>
              <a:rPr lang="en-US" dirty="0"/>
              <a:t>Measure content performance using IMDb and TMDB metrics.</a:t>
            </a:r>
          </a:p>
        </p:txBody>
      </p:sp>
      <p:sp>
        <p:nvSpPr>
          <p:cNvPr id="21" name="Text Placeholder 8">
            <a:extLst>
              <a:ext uri="{FF2B5EF4-FFF2-40B4-BE49-F238E27FC236}">
                <a16:creationId xmlns:a16="http://schemas.microsoft.com/office/drawing/2014/main" id="{CA90300B-6E36-86D2-2ECF-387D230944EE}"/>
              </a:ext>
            </a:extLst>
          </p:cNvPr>
          <p:cNvSpPr txBox="1">
            <a:spLocks/>
          </p:cNvSpPr>
          <p:nvPr/>
        </p:nvSpPr>
        <p:spPr>
          <a:xfrm>
            <a:off x="5495129" y="5182701"/>
            <a:ext cx="5922560" cy="682315"/>
          </a:xfrm>
          <a:prstGeom prst="rect">
            <a:avLst/>
          </a:prstGeom>
        </p:spPr>
        <p:txBody>
          <a:bodyPr vert="horz" lIns="91440" tIns="45720" rIns="91440" bIns="45720" rtlCol="0" anchor="b">
            <a:noAutofit/>
          </a:bodyPr>
          <a:lstStyle>
            <a:lvl1pPr marL="0" indent="0" algn="l" defTabSz="914400" rtl="0" eaLnBrk="1" latinLnBrk="0" hangingPunct="1">
              <a:lnSpc>
                <a:spcPct val="100000"/>
              </a:lnSpc>
              <a:spcBef>
                <a:spcPts val="1000"/>
              </a:spcBef>
              <a:buFont typeface="Arial" panose="020B0604020202020204" pitchFamily="34" charset="0"/>
              <a:buNone/>
              <a:defRPr sz="1800" b="1" i="0" kern="1200">
                <a:solidFill>
                  <a:schemeClr val="accent6"/>
                </a:solidFill>
                <a:latin typeface="+mn-lt"/>
                <a:ea typeface="+mn-ea"/>
                <a:cs typeface="Posterama" panose="020B0504020200020000"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200"/>
              </a:spcAft>
              <a:defRPr sz="2100" b="0">
                <a:solidFill>
                  <a:srgbClr val="141414"/>
                </a:solidFill>
              </a:defRPr>
            </a:pPr>
            <a:r>
              <a:rPr lang="en-US" dirty="0"/>
              <a:t>Present insights through KPIs, PivotTables, charts and slicers.</a:t>
            </a:r>
          </a:p>
        </p:txBody>
      </p:sp>
      <p:sp>
        <p:nvSpPr>
          <p:cNvPr id="22" name="Text Placeholder 8">
            <a:extLst>
              <a:ext uri="{FF2B5EF4-FFF2-40B4-BE49-F238E27FC236}">
                <a16:creationId xmlns:a16="http://schemas.microsoft.com/office/drawing/2014/main" id="{3A59F313-AAD2-091A-F37A-B772DDFC4C4F}"/>
              </a:ext>
            </a:extLst>
          </p:cNvPr>
          <p:cNvSpPr txBox="1">
            <a:spLocks/>
          </p:cNvSpPr>
          <p:nvPr/>
        </p:nvSpPr>
        <p:spPr>
          <a:xfrm>
            <a:off x="5342729" y="4085959"/>
            <a:ext cx="5922560" cy="682315"/>
          </a:xfrm>
          <a:prstGeom prst="rect">
            <a:avLst/>
          </a:prstGeom>
        </p:spPr>
        <p:txBody>
          <a:bodyPr vert="horz" lIns="91440" tIns="45720" rIns="91440" bIns="45720" rtlCol="0" anchor="b">
            <a:noAutofit/>
          </a:bodyPr>
          <a:lstStyle>
            <a:lvl1pPr marL="0" indent="0" algn="l" defTabSz="914400" rtl="0" eaLnBrk="1" latinLnBrk="0" hangingPunct="1">
              <a:lnSpc>
                <a:spcPct val="100000"/>
              </a:lnSpc>
              <a:spcBef>
                <a:spcPts val="1000"/>
              </a:spcBef>
              <a:buFont typeface="Arial" panose="020B0604020202020204" pitchFamily="34" charset="0"/>
              <a:buNone/>
              <a:defRPr sz="1800" b="1" i="0" kern="1200">
                <a:solidFill>
                  <a:schemeClr val="accent6"/>
                </a:solidFill>
                <a:latin typeface="+mn-lt"/>
                <a:ea typeface="+mn-ea"/>
                <a:cs typeface="Posterama" panose="020B0504020200020000"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200"/>
              </a:spcAft>
              <a:defRPr sz="2100" b="0">
                <a:solidFill>
                  <a:srgbClr val="141414"/>
                </a:solidFill>
              </a:defRPr>
            </a:pPr>
            <a:r>
              <a:rPr lang="en-US" dirty="0"/>
              <a:t>Identify patterns by genre, content type and release period.</a:t>
            </a:r>
          </a:p>
        </p:txBody>
      </p:sp>
      <p:pic>
        <p:nvPicPr>
          <p:cNvPr id="11" name="Graphic 10" descr="Magnifying glass with solid fill">
            <a:extLst>
              <a:ext uri="{FF2B5EF4-FFF2-40B4-BE49-F238E27FC236}">
                <a16:creationId xmlns:a16="http://schemas.microsoft.com/office/drawing/2014/main" id="{0035308D-42A6-00D4-BBAF-C3D5277D463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810665" y="4196644"/>
            <a:ext cx="460944" cy="460944"/>
          </a:xfrm>
          <a:prstGeom prst="rect">
            <a:avLst/>
          </a:prstGeom>
        </p:spPr>
      </p:pic>
      <p:sp>
        <p:nvSpPr>
          <p:cNvPr id="2" name="Freeform: Shape 11">
            <a:extLst>
              <a:ext uri="{FF2B5EF4-FFF2-40B4-BE49-F238E27FC236}">
                <a16:creationId xmlns:a16="http://schemas.microsoft.com/office/drawing/2014/main" id="{D0319C47-E5AB-1111-EE9A-D9310ACDE056}"/>
              </a:ext>
              <a:ext uri="{C183D7F6-B498-43B3-948B-1728B52AA6E4}">
                <adec:decorative xmlns:adec="http://schemas.microsoft.com/office/drawing/2017/decorative" val="1"/>
              </a:ext>
            </a:extLst>
          </p:cNvPr>
          <p:cNvSpPr/>
          <p:nvPr/>
        </p:nvSpPr>
        <p:spPr>
          <a:xfrm>
            <a:off x="-792480" y="2854960"/>
            <a:ext cx="3169920" cy="3647440"/>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rgbClr val="EB0005">
              <a:alpha val="76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503304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581024" y="238075"/>
            <a:ext cx="10889796" cy="680542"/>
          </a:xfrm>
        </p:spPr>
        <p:txBody>
          <a:bodyPr/>
          <a:lstStyle/>
          <a:p>
            <a:r>
              <a:rPr lang="en-US" dirty="0"/>
              <a:t>Dataset Overview</a:t>
            </a:r>
          </a:p>
        </p:txBody>
      </p:sp>
      <p:graphicFrame>
        <p:nvGraphicFramePr>
          <p:cNvPr id="8" name="Table 8">
            <a:extLst>
              <a:ext uri="{FF2B5EF4-FFF2-40B4-BE49-F238E27FC236}">
                <a16:creationId xmlns:a16="http://schemas.microsoft.com/office/drawing/2014/main" id="{7E5E2BDF-8ED2-40CB-B07C-B015E1420EA8}"/>
              </a:ext>
            </a:extLst>
          </p:cNvPr>
          <p:cNvGraphicFramePr>
            <a:graphicFrameLocks noGrp="1"/>
          </p:cNvGraphicFramePr>
          <p:nvPr>
            <p:ph type="tbl" sz="quarter" idx="27"/>
            <p:extLst>
              <p:ext uri="{D42A27DB-BD31-4B8C-83A1-F6EECF244321}">
                <p14:modId xmlns:p14="http://schemas.microsoft.com/office/powerpoint/2010/main" val="3725954272"/>
              </p:ext>
            </p:extLst>
          </p:nvPr>
        </p:nvGraphicFramePr>
        <p:xfrm>
          <a:off x="581024" y="990720"/>
          <a:ext cx="8390256" cy="5227201"/>
        </p:xfrm>
        <a:graphic>
          <a:graphicData uri="http://schemas.openxmlformats.org/drawingml/2006/table">
            <a:tbl>
              <a:tblPr firstRow="1" bandRow="1">
                <a:tableStyleId>{C4B1156A-380E-4F78-BDF5-A606A8083BF9}</a:tableStyleId>
              </a:tblPr>
              <a:tblGrid>
                <a:gridCol w="2796752">
                  <a:extLst>
                    <a:ext uri="{9D8B030D-6E8A-4147-A177-3AD203B41FA5}">
                      <a16:colId xmlns:a16="http://schemas.microsoft.com/office/drawing/2014/main" val="1457000769"/>
                    </a:ext>
                  </a:extLst>
                </a:gridCol>
                <a:gridCol w="2796752">
                  <a:extLst>
                    <a:ext uri="{9D8B030D-6E8A-4147-A177-3AD203B41FA5}">
                      <a16:colId xmlns:a16="http://schemas.microsoft.com/office/drawing/2014/main" val="1939741220"/>
                    </a:ext>
                  </a:extLst>
                </a:gridCol>
                <a:gridCol w="2796752">
                  <a:extLst>
                    <a:ext uri="{9D8B030D-6E8A-4147-A177-3AD203B41FA5}">
                      <a16:colId xmlns:a16="http://schemas.microsoft.com/office/drawing/2014/main" val="1728182267"/>
                    </a:ext>
                  </a:extLst>
                </a:gridCol>
              </a:tblGrid>
              <a:tr h="434120">
                <a:tc>
                  <a:txBody>
                    <a:bodyPr/>
                    <a:lstStyle/>
                    <a:p>
                      <a:pPr algn="l"/>
                      <a:r>
                        <a:rPr lang="en-US" sz="1800" b="1" kern="1200" dirty="0">
                          <a:solidFill>
                            <a:schemeClr val="bg1"/>
                          </a:solidFill>
                          <a:latin typeface="+mn-lt"/>
                          <a:ea typeface="+mn-ea"/>
                          <a:cs typeface="+mn-cs"/>
                        </a:rPr>
                        <a:t>Column</a:t>
                      </a:r>
                    </a:p>
                  </a:txBody>
                  <a:tcPr anchor="ctr">
                    <a:solidFill>
                      <a:srgbClr val="FF0000"/>
                    </a:solidFill>
                  </a:tcPr>
                </a:tc>
                <a:tc>
                  <a:txBody>
                    <a:bodyPr/>
                    <a:lstStyle/>
                    <a:p>
                      <a:pPr algn="l"/>
                      <a:r>
                        <a:rPr lang="en-US" b="1" i="0" dirty="0">
                          <a:solidFill>
                            <a:schemeClr val="bg1"/>
                          </a:solidFill>
                          <a:latin typeface="+mn-lt"/>
                          <a:cs typeface="Posterama" panose="020B0504020200020000" pitchFamily="34" charset="0"/>
                        </a:rPr>
                        <a:t>Data Type</a:t>
                      </a:r>
                    </a:p>
                  </a:txBody>
                  <a:tcPr anchor="ctr">
                    <a:solidFill>
                      <a:srgbClr val="FF0000"/>
                    </a:solidFill>
                  </a:tcPr>
                </a:tc>
                <a:tc>
                  <a:txBody>
                    <a:bodyPr/>
                    <a:lstStyle/>
                    <a:p>
                      <a:pPr algn="l"/>
                      <a:r>
                        <a:rPr lang="en-US" b="1" i="0" dirty="0">
                          <a:solidFill>
                            <a:schemeClr val="bg1"/>
                          </a:solidFill>
                          <a:latin typeface="+mn-lt"/>
                          <a:cs typeface="Posterama" panose="020B0504020200020000" pitchFamily="34" charset="0"/>
                        </a:rPr>
                        <a:t>Description</a:t>
                      </a:r>
                    </a:p>
                  </a:txBody>
                  <a:tcPr anchor="ctr">
                    <a:solidFill>
                      <a:srgbClr val="FF0000"/>
                    </a:solidFill>
                  </a:tcPr>
                </a:tc>
                <a:extLst>
                  <a:ext uri="{0D108BD9-81ED-4DB2-BD59-A6C34878D82A}">
                    <a16:rowId xmlns:a16="http://schemas.microsoft.com/office/drawing/2014/main" val="704343578"/>
                  </a:ext>
                </a:extLst>
              </a:tr>
              <a:tr h="584747">
                <a:tc>
                  <a:txBody>
                    <a:bodyPr/>
                    <a:lstStyle/>
                    <a:p>
                      <a:pPr algn="l"/>
                      <a:r>
                        <a:rPr lang="en-US" sz="1600" b="0" i="0" dirty="0">
                          <a:solidFill>
                            <a:schemeClr val="accent6"/>
                          </a:solidFill>
                          <a:latin typeface="+mn-lt"/>
                          <a:cs typeface="Posterama" panose="020B0504020200020000" pitchFamily="34" charset="0"/>
                        </a:rPr>
                        <a:t>Genre</a:t>
                      </a:r>
                    </a:p>
                  </a:txBody>
                  <a:tcPr anchor="ctr"/>
                </a:tc>
                <a:tc>
                  <a:txBody>
                    <a:bodyPr/>
                    <a:lstStyle/>
                    <a:p>
                      <a:pPr algn="l"/>
                      <a:r>
                        <a:rPr lang="en-US" sz="1600" b="0" i="0" dirty="0">
                          <a:solidFill>
                            <a:schemeClr val="accent6"/>
                          </a:solidFill>
                          <a:latin typeface="Posterama" panose="020B0504020200020000" pitchFamily="34" charset="0"/>
                          <a:cs typeface="Posterama" panose="020B0504020200020000" pitchFamily="34" charset="0"/>
                        </a:rPr>
                        <a:t>Text</a:t>
                      </a:r>
                    </a:p>
                  </a:txBody>
                  <a:tcPr anchor="ctr"/>
                </a:tc>
                <a:tc>
                  <a:txBody>
                    <a:bodyPr/>
                    <a:lstStyle/>
                    <a:p>
                      <a:pPr algn="l"/>
                      <a:r>
                        <a:rPr lang="en-US" sz="1600" b="0" i="0" kern="1200" dirty="0">
                          <a:solidFill>
                            <a:schemeClr val="dk1"/>
                          </a:solidFill>
                          <a:effectLst/>
                          <a:latin typeface="+mn-lt"/>
                          <a:ea typeface="+mn-ea"/>
                          <a:cs typeface="+mn-cs"/>
                        </a:rPr>
                        <a:t>Genres associated with the title</a:t>
                      </a:r>
                      <a:endParaRPr lang="en-US" sz="1600" b="0" i="0" dirty="0">
                        <a:solidFill>
                          <a:schemeClr val="accent6"/>
                        </a:solidFill>
                        <a:latin typeface="Posterama" panose="020B0504020200020000" pitchFamily="34" charset="0"/>
                        <a:cs typeface="Posterama" panose="020B0504020200020000" pitchFamily="34" charset="0"/>
                      </a:endParaRPr>
                    </a:p>
                  </a:txBody>
                  <a:tcPr anchor="ctr"/>
                </a:tc>
                <a:extLst>
                  <a:ext uri="{0D108BD9-81ED-4DB2-BD59-A6C34878D82A}">
                    <a16:rowId xmlns:a16="http://schemas.microsoft.com/office/drawing/2014/main" val="4112558055"/>
                  </a:ext>
                </a:extLst>
              </a:tr>
              <a:tr h="584747">
                <a:tc>
                  <a:txBody>
                    <a:bodyPr/>
                    <a:lstStyle/>
                    <a:p>
                      <a:pPr algn="l"/>
                      <a:r>
                        <a:rPr lang="en-US" sz="1600" b="0" i="0" dirty="0">
                          <a:solidFill>
                            <a:schemeClr val="accent6"/>
                          </a:solidFill>
                          <a:latin typeface="+mn-lt"/>
                          <a:cs typeface="Posterama" panose="020B0504020200020000" pitchFamily="34" charset="0"/>
                        </a:rPr>
                        <a:t>Title</a:t>
                      </a:r>
                    </a:p>
                  </a:txBody>
                  <a:tcPr anchor="ctr"/>
                </a:tc>
                <a:tc>
                  <a:txBody>
                    <a:bodyPr/>
                    <a:lstStyle/>
                    <a:p>
                      <a:pPr algn="l"/>
                      <a:r>
                        <a:rPr lang="en-US" sz="1600" b="0" i="0" dirty="0">
                          <a:solidFill>
                            <a:schemeClr val="accent6"/>
                          </a:solidFill>
                          <a:latin typeface="Posterama" panose="020B0504020200020000" pitchFamily="34" charset="0"/>
                          <a:cs typeface="Posterama" panose="020B0504020200020000" pitchFamily="34" charset="0"/>
                        </a:rPr>
                        <a:t>Text</a:t>
                      </a:r>
                    </a:p>
                  </a:txBody>
                  <a:tcPr anchor="ctr"/>
                </a:tc>
                <a:tc>
                  <a:txBody>
                    <a:bodyPr/>
                    <a:lstStyle/>
                    <a:p>
                      <a:pPr algn="l"/>
                      <a:r>
                        <a:rPr lang="en-US" sz="1600" b="0" i="0" kern="1200" dirty="0">
                          <a:solidFill>
                            <a:schemeClr val="dk1"/>
                          </a:solidFill>
                          <a:effectLst/>
                          <a:latin typeface="+mn-lt"/>
                          <a:ea typeface="+mn-ea"/>
                          <a:cs typeface="+mn-cs"/>
                        </a:rPr>
                        <a:t>Name of the movie or TV show</a:t>
                      </a:r>
                      <a:endParaRPr lang="en-US" sz="1600" b="0" i="0" dirty="0">
                        <a:solidFill>
                          <a:schemeClr val="accent6"/>
                        </a:solidFill>
                        <a:latin typeface="Posterama" panose="020B0504020200020000" pitchFamily="34" charset="0"/>
                        <a:cs typeface="Posterama" panose="020B0504020200020000" pitchFamily="34" charset="0"/>
                      </a:endParaRPr>
                    </a:p>
                  </a:txBody>
                  <a:tcPr anchor="ctr"/>
                </a:tc>
                <a:extLst>
                  <a:ext uri="{0D108BD9-81ED-4DB2-BD59-A6C34878D82A}">
                    <a16:rowId xmlns:a16="http://schemas.microsoft.com/office/drawing/2014/main" val="322234691"/>
                  </a:ext>
                </a:extLst>
              </a:tr>
              <a:tr h="584747">
                <a:tc>
                  <a:txBody>
                    <a:bodyPr/>
                    <a:lstStyle/>
                    <a:p>
                      <a:pPr algn="l"/>
                      <a:r>
                        <a:rPr lang="en-US" sz="1600" b="0" i="0" dirty="0">
                          <a:solidFill>
                            <a:schemeClr val="accent6"/>
                          </a:solidFill>
                          <a:latin typeface="+mn-lt"/>
                          <a:cs typeface="Posterama" panose="020B0504020200020000" pitchFamily="34" charset="0"/>
                        </a:rPr>
                        <a:t>Type</a:t>
                      </a:r>
                    </a:p>
                  </a:txBody>
                  <a:tcPr anchor="ctr"/>
                </a:tc>
                <a:tc>
                  <a:txBody>
                    <a:bodyPr/>
                    <a:lstStyle/>
                    <a:p>
                      <a:pPr algn="l"/>
                      <a:r>
                        <a:rPr lang="en-US" sz="1600" b="0" i="0" dirty="0">
                          <a:solidFill>
                            <a:schemeClr val="accent6"/>
                          </a:solidFill>
                          <a:latin typeface="Posterama" panose="020B0504020200020000" pitchFamily="34" charset="0"/>
                          <a:cs typeface="Posterama" panose="020B0504020200020000" pitchFamily="34" charset="0"/>
                        </a:rPr>
                        <a:t>Text</a:t>
                      </a:r>
                    </a:p>
                  </a:txBody>
                  <a:tcPr anchor="ctr"/>
                </a:tc>
                <a:tc>
                  <a:txBody>
                    <a:bodyPr/>
                    <a:lstStyle/>
                    <a:p>
                      <a:pPr algn="l"/>
                      <a:r>
                        <a:rPr lang="en-US" sz="1600" b="0" i="0" kern="1200" dirty="0">
                          <a:solidFill>
                            <a:schemeClr val="dk1"/>
                          </a:solidFill>
                          <a:effectLst/>
                          <a:latin typeface="+mn-lt"/>
                          <a:ea typeface="+mn-ea"/>
                          <a:cs typeface="+mn-cs"/>
                        </a:rPr>
                        <a:t>Indicating whether it is a Movie or a TV Show.</a:t>
                      </a:r>
                      <a:endParaRPr lang="en-US" sz="1600" b="0" i="0" dirty="0">
                        <a:solidFill>
                          <a:schemeClr val="accent6"/>
                        </a:solidFill>
                        <a:latin typeface="Posterama" panose="020B0504020200020000" pitchFamily="34" charset="0"/>
                        <a:cs typeface="Posterama" panose="020B0504020200020000" pitchFamily="34" charset="0"/>
                      </a:endParaRPr>
                    </a:p>
                  </a:txBody>
                  <a:tcPr anchor="ctr"/>
                </a:tc>
                <a:extLst>
                  <a:ext uri="{0D108BD9-81ED-4DB2-BD59-A6C34878D82A}">
                    <a16:rowId xmlns:a16="http://schemas.microsoft.com/office/drawing/2014/main" val="3315783827"/>
                  </a:ext>
                </a:extLst>
              </a:tr>
              <a:tr h="434120">
                <a:tc>
                  <a:txBody>
                    <a:bodyPr/>
                    <a:lstStyle/>
                    <a:p>
                      <a:pPr algn="l"/>
                      <a:r>
                        <a:rPr lang="en-US" sz="1600" b="0" i="0" dirty="0" err="1">
                          <a:solidFill>
                            <a:schemeClr val="accent6"/>
                          </a:solidFill>
                          <a:latin typeface="+mn-lt"/>
                          <a:cs typeface="Posterama" panose="020B0504020200020000" pitchFamily="34" charset="0"/>
                        </a:rPr>
                        <a:t>Release_Year</a:t>
                      </a:r>
                      <a:endParaRPr lang="en-US" sz="1600" b="0" i="0" dirty="0">
                        <a:solidFill>
                          <a:schemeClr val="accent6"/>
                        </a:solidFill>
                        <a:latin typeface="+mn-lt"/>
                        <a:cs typeface="Posterama" panose="020B0504020200020000" pitchFamily="34" charset="0"/>
                      </a:endParaRPr>
                    </a:p>
                  </a:txBody>
                  <a:tcPr anchor="ctr"/>
                </a:tc>
                <a:tc>
                  <a:txBody>
                    <a:bodyPr/>
                    <a:lstStyle/>
                    <a:p>
                      <a:pPr algn="l"/>
                      <a:r>
                        <a:rPr lang="en-US" sz="1600" b="0" i="0" dirty="0">
                          <a:solidFill>
                            <a:schemeClr val="accent6"/>
                          </a:solidFill>
                          <a:latin typeface="Posterama" panose="020B0504020200020000" pitchFamily="34" charset="0"/>
                          <a:cs typeface="Posterama" panose="020B0504020200020000" pitchFamily="34" charset="0"/>
                        </a:rPr>
                        <a:t>Date</a:t>
                      </a:r>
                    </a:p>
                  </a:txBody>
                  <a:tcPr anchor="ctr"/>
                </a:tc>
                <a:tc>
                  <a:txBody>
                    <a:bodyPr/>
                    <a:lstStyle/>
                    <a:p>
                      <a:pPr algn="l"/>
                      <a:r>
                        <a:rPr lang="en-IN" sz="1600" b="0" i="0" kern="1200" dirty="0">
                          <a:solidFill>
                            <a:schemeClr val="dk1"/>
                          </a:solidFill>
                          <a:effectLst/>
                          <a:latin typeface="+mn-lt"/>
                          <a:ea typeface="+mn-ea"/>
                          <a:cs typeface="+mn-cs"/>
                        </a:rPr>
                        <a:t>Actual release year</a:t>
                      </a:r>
                      <a:endParaRPr lang="en-US" sz="1600" b="0" i="0" dirty="0">
                        <a:solidFill>
                          <a:schemeClr val="accent6"/>
                        </a:solidFill>
                        <a:latin typeface="Posterama" panose="020B0504020200020000" pitchFamily="34" charset="0"/>
                        <a:cs typeface="Posterama" panose="020B0504020200020000" pitchFamily="34" charset="0"/>
                      </a:endParaRPr>
                    </a:p>
                  </a:txBody>
                  <a:tcPr anchor="ctr"/>
                </a:tc>
                <a:extLst>
                  <a:ext uri="{0D108BD9-81ED-4DB2-BD59-A6C34878D82A}">
                    <a16:rowId xmlns:a16="http://schemas.microsoft.com/office/drawing/2014/main" val="707436735"/>
                  </a:ext>
                </a:extLst>
              </a:tr>
              <a:tr h="434120">
                <a:tc>
                  <a:txBody>
                    <a:bodyPr/>
                    <a:lstStyle/>
                    <a:p>
                      <a:pPr algn="l"/>
                      <a:r>
                        <a:rPr lang="en-US" sz="1600" b="0" i="0" dirty="0">
                          <a:solidFill>
                            <a:schemeClr val="accent6"/>
                          </a:solidFill>
                          <a:latin typeface="+mn-lt"/>
                          <a:cs typeface="Posterama" panose="020B0504020200020000" pitchFamily="34" charset="0"/>
                        </a:rPr>
                        <a:t>Runtime</a:t>
                      </a:r>
                    </a:p>
                  </a:txBody>
                  <a:tcPr anchor="ctr"/>
                </a:tc>
                <a:tc>
                  <a:txBody>
                    <a:bodyPr/>
                    <a:lstStyle/>
                    <a:p>
                      <a:pPr algn="l"/>
                      <a:r>
                        <a:rPr lang="en-US" sz="1600" b="0" i="0" dirty="0">
                          <a:solidFill>
                            <a:schemeClr val="accent6"/>
                          </a:solidFill>
                          <a:latin typeface="Posterama" panose="020B0504020200020000" pitchFamily="34" charset="0"/>
                          <a:cs typeface="Posterama" panose="020B0504020200020000" pitchFamily="34" charset="0"/>
                        </a:rPr>
                        <a:t>Whole Number</a:t>
                      </a:r>
                    </a:p>
                  </a:txBody>
                  <a:tcPr anchor="ctr"/>
                </a:tc>
                <a:tc>
                  <a:txBody>
                    <a:bodyPr/>
                    <a:lstStyle/>
                    <a:p>
                      <a:pPr algn="l"/>
                      <a:r>
                        <a:rPr lang="en-IN" sz="1600" b="0" i="0" kern="1200" dirty="0">
                          <a:solidFill>
                            <a:schemeClr val="dk1"/>
                          </a:solidFill>
                          <a:effectLst/>
                          <a:latin typeface="+mn-lt"/>
                          <a:ea typeface="+mn-ea"/>
                          <a:cs typeface="+mn-cs"/>
                        </a:rPr>
                        <a:t>Runtime in minutes</a:t>
                      </a:r>
                      <a:endParaRPr lang="en-US" sz="1600" b="0" i="0" dirty="0">
                        <a:solidFill>
                          <a:schemeClr val="accent6"/>
                        </a:solidFill>
                        <a:latin typeface="Posterama" panose="020B0504020200020000" pitchFamily="34" charset="0"/>
                        <a:cs typeface="Posterama" panose="020B0504020200020000" pitchFamily="34" charset="0"/>
                      </a:endParaRPr>
                    </a:p>
                  </a:txBody>
                  <a:tcPr anchor="ctr"/>
                </a:tc>
                <a:extLst>
                  <a:ext uri="{0D108BD9-81ED-4DB2-BD59-A6C34878D82A}">
                    <a16:rowId xmlns:a16="http://schemas.microsoft.com/office/drawing/2014/main" val="2008827937"/>
                  </a:ext>
                </a:extLst>
              </a:tr>
              <a:tr h="434120">
                <a:tc>
                  <a:txBody>
                    <a:bodyPr/>
                    <a:lstStyle/>
                    <a:p>
                      <a:pPr algn="l"/>
                      <a:r>
                        <a:rPr lang="en-US" sz="1600" b="0" i="0" dirty="0">
                          <a:solidFill>
                            <a:schemeClr val="accent6"/>
                          </a:solidFill>
                          <a:latin typeface="+mn-lt"/>
                          <a:cs typeface="Posterama" panose="020B0504020200020000" pitchFamily="34" charset="0"/>
                        </a:rPr>
                        <a:t>Description</a:t>
                      </a:r>
                    </a:p>
                  </a:txBody>
                  <a:tcPr anchor="ctr"/>
                </a:tc>
                <a:tc>
                  <a:txBody>
                    <a:bodyPr/>
                    <a:lstStyle/>
                    <a:p>
                      <a:pPr algn="l"/>
                      <a:r>
                        <a:rPr lang="en-US" sz="1600" b="0" i="0" dirty="0">
                          <a:solidFill>
                            <a:schemeClr val="accent6"/>
                          </a:solidFill>
                          <a:latin typeface="Posterama" panose="020B0504020200020000" pitchFamily="34" charset="0"/>
                          <a:cs typeface="Posterama" panose="020B0504020200020000" pitchFamily="34" charset="0"/>
                        </a:rPr>
                        <a:t>Text</a:t>
                      </a:r>
                    </a:p>
                  </a:txBody>
                  <a:tcPr anchor="ctr"/>
                </a:tc>
                <a:tc>
                  <a:txBody>
                    <a:bodyPr/>
                    <a:lstStyle/>
                    <a:p>
                      <a:pPr algn="l"/>
                      <a:r>
                        <a:rPr lang="en-IN" sz="1600" b="0" i="0" kern="1200" dirty="0">
                          <a:solidFill>
                            <a:schemeClr val="dk1"/>
                          </a:solidFill>
                          <a:effectLst/>
                          <a:latin typeface="+mn-lt"/>
                          <a:ea typeface="+mn-ea"/>
                          <a:cs typeface="+mn-cs"/>
                        </a:rPr>
                        <a:t>Overview of the title</a:t>
                      </a:r>
                      <a:endParaRPr lang="en-US" sz="1600" b="0" i="0" dirty="0">
                        <a:solidFill>
                          <a:schemeClr val="accent6"/>
                        </a:solidFill>
                        <a:latin typeface="Posterama" panose="020B0504020200020000" pitchFamily="34" charset="0"/>
                        <a:cs typeface="Posterama" panose="020B0504020200020000" pitchFamily="34" charset="0"/>
                      </a:endParaRPr>
                    </a:p>
                  </a:txBody>
                  <a:tcPr anchor="ctr"/>
                </a:tc>
                <a:extLst>
                  <a:ext uri="{0D108BD9-81ED-4DB2-BD59-A6C34878D82A}">
                    <a16:rowId xmlns:a16="http://schemas.microsoft.com/office/drawing/2014/main" val="71911179"/>
                  </a:ext>
                </a:extLst>
              </a:tr>
              <a:tr h="434120">
                <a:tc>
                  <a:txBody>
                    <a:bodyPr/>
                    <a:lstStyle/>
                    <a:p>
                      <a:pPr algn="l"/>
                      <a:r>
                        <a:rPr lang="en-US" sz="1600" b="0" i="0" dirty="0">
                          <a:solidFill>
                            <a:schemeClr val="accent6"/>
                          </a:solidFill>
                          <a:latin typeface="+mn-lt"/>
                          <a:cs typeface="Posterama" panose="020B0504020200020000" pitchFamily="34" charset="0"/>
                        </a:rPr>
                        <a:t>IMDb Rating</a:t>
                      </a:r>
                    </a:p>
                  </a:txBody>
                  <a:tcPr anchor="ctr"/>
                </a:tc>
                <a:tc>
                  <a:txBody>
                    <a:bodyPr/>
                    <a:lstStyle/>
                    <a:p>
                      <a:pPr algn="l"/>
                      <a:r>
                        <a:rPr lang="en-US" sz="1600" b="0" i="0" dirty="0">
                          <a:solidFill>
                            <a:schemeClr val="accent6"/>
                          </a:solidFill>
                          <a:latin typeface="Posterama" panose="020B0504020200020000" pitchFamily="34" charset="0"/>
                          <a:cs typeface="Posterama" panose="020B0504020200020000" pitchFamily="34" charset="0"/>
                        </a:rPr>
                        <a:t>Decimal</a:t>
                      </a:r>
                    </a:p>
                  </a:txBody>
                  <a:tcPr anchor="ctr"/>
                </a:tc>
                <a:tc>
                  <a:txBody>
                    <a:bodyPr/>
                    <a:lstStyle/>
                    <a:p>
                      <a:pPr algn="l"/>
                      <a:r>
                        <a:rPr lang="en-IN" sz="1600" b="0" i="0" kern="1200" dirty="0">
                          <a:solidFill>
                            <a:schemeClr val="dk1"/>
                          </a:solidFill>
                          <a:effectLst/>
                          <a:latin typeface="+mn-lt"/>
                          <a:ea typeface="+mn-ea"/>
                          <a:cs typeface="+mn-cs"/>
                        </a:rPr>
                        <a:t>IMDb rating score</a:t>
                      </a:r>
                      <a:endParaRPr lang="en-US" sz="1600" b="0" i="0" dirty="0">
                        <a:solidFill>
                          <a:schemeClr val="accent6"/>
                        </a:solidFill>
                        <a:latin typeface="Posterama" panose="020B0504020200020000" pitchFamily="34" charset="0"/>
                        <a:cs typeface="Posterama" panose="020B0504020200020000" pitchFamily="34" charset="0"/>
                      </a:endParaRPr>
                    </a:p>
                  </a:txBody>
                  <a:tcPr anchor="ctr"/>
                </a:tc>
                <a:extLst>
                  <a:ext uri="{0D108BD9-81ED-4DB2-BD59-A6C34878D82A}">
                    <a16:rowId xmlns:a16="http://schemas.microsoft.com/office/drawing/2014/main" val="2763616492"/>
                  </a:ext>
                </a:extLst>
              </a:tr>
              <a:tr h="434120">
                <a:tc>
                  <a:txBody>
                    <a:bodyPr/>
                    <a:lstStyle/>
                    <a:p>
                      <a:pPr algn="l"/>
                      <a:r>
                        <a:rPr lang="en-US" sz="1600" b="0" i="0" dirty="0">
                          <a:solidFill>
                            <a:schemeClr val="accent6"/>
                          </a:solidFill>
                          <a:latin typeface="+mn-lt"/>
                          <a:cs typeface="Posterama" panose="020B0504020200020000" pitchFamily="34" charset="0"/>
                        </a:rPr>
                        <a:t>IMDb Votes</a:t>
                      </a:r>
                    </a:p>
                  </a:txBody>
                  <a:tcPr anchor="ctr"/>
                </a:tc>
                <a:tc>
                  <a:txBody>
                    <a:bodyPr/>
                    <a:lstStyle/>
                    <a:p>
                      <a:pPr algn="l"/>
                      <a:r>
                        <a:rPr lang="en-US" sz="1600" b="0" i="0" dirty="0">
                          <a:solidFill>
                            <a:schemeClr val="accent6"/>
                          </a:solidFill>
                          <a:latin typeface="Posterama" panose="020B0504020200020000" pitchFamily="34" charset="0"/>
                          <a:cs typeface="Posterama" panose="020B0504020200020000" pitchFamily="34" charset="0"/>
                        </a:rPr>
                        <a:t>Whole Number</a:t>
                      </a:r>
                    </a:p>
                  </a:txBody>
                  <a:tcPr anchor="ctr"/>
                </a:tc>
                <a:tc>
                  <a:txBody>
                    <a:bodyPr/>
                    <a:lstStyle/>
                    <a:p>
                      <a:pPr algn="l"/>
                      <a:r>
                        <a:rPr lang="en-IN" sz="1600" b="0" i="0" kern="1200" dirty="0">
                          <a:solidFill>
                            <a:schemeClr val="dk1"/>
                          </a:solidFill>
                          <a:effectLst/>
                          <a:latin typeface="+mn-lt"/>
                          <a:ea typeface="+mn-ea"/>
                          <a:cs typeface="+mn-cs"/>
                        </a:rPr>
                        <a:t>Number of IMDb votes</a:t>
                      </a:r>
                      <a:endParaRPr lang="en-US" sz="1600" b="0" i="0" dirty="0">
                        <a:solidFill>
                          <a:schemeClr val="accent6"/>
                        </a:solidFill>
                        <a:latin typeface="Posterama" panose="020B0504020200020000" pitchFamily="34" charset="0"/>
                        <a:cs typeface="Posterama" panose="020B0504020200020000" pitchFamily="34" charset="0"/>
                      </a:endParaRPr>
                    </a:p>
                  </a:txBody>
                  <a:tcPr anchor="ctr"/>
                </a:tc>
                <a:extLst>
                  <a:ext uri="{0D108BD9-81ED-4DB2-BD59-A6C34878D82A}">
                    <a16:rowId xmlns:a16="http://schemas.microsoft.com/office/drawing/2014/main" val="1082316392"/>
                  </a:ext>
                </a:extLst>
              </a:tr>
              <a:tr h="434120">
                <a:tc>
                  <a:txBody>
                    <a:bodyPr/>
                    <a:lstStyle/>
                    <a:p>
                      <a:pPr algn="l"/>
                      <a:r>
                        <a:rPr lang="en-US" sz="1600" b="0" i="0" dirty="0" err="1">
                          <a:solidFill>
                            <a:schemeClr val="accent6"/>
                          </a:solidFill>
                          <a:latin typeface="+mn-lt"/>
                          <a:cs typeface="Posterama" panose="020B0504020200020000" pitchFamily="34" charset="0"/>
                        </a:rPr>
                        <a:t>TMDb</a:t>
                      </a:r>
                      <a:r>
                        <a:rPr lang="en-US" sz="1600" b="0" i="0" dirty="0">
                          <a:solidFill>
                            <a:schemeClr val="accent6"/>
                          </a:solidFill>
                          <a:latin typeface="+mn-lt"/>
                          <a:cs typeface="Posterama" panose="020B0504020200020000" pitchFamily="34" charset="0"/>
                        </a:rPr>
                        <a:t> Rating</a:t>
                      </a:r>
                    </a:p>
                  </a:txBody>
                  <a:tcPr anchor="ctr"/>
                </a:tc>
                <a:tc>
                  <a:txBody>
                    <a:bodyPr/>
                    <a:lstStyle/>
                    <a:p>
                      <a:pPr algn="l"/>
                      <a:r>
                        <a:rPr lang="en-US" sz="1600" b="0" i="0" dirty="0">
                          <a:solidFill>
                            <a:schemeClr val="accent6"/>
                          </a:solidFill>
                          <a:latin typeface="Posterama" panose="020B0504020200020000" pitchFamily="34" charset="0"/>
                          <a:cs typeface="Posterama" panose="020B0504020200020000" pitchFamily="34" charset="0"/>
                        </a:rPr>
                        <a:t>Decimal</a:t>
                      </a:r>
                    </a:p>
                  </a:txBody>
                  <a:tcPr anchor="ctr"/>
                </a:tc>
                <a:tc>
                  <a:txBody>
                    <a:bodyPr/>
                    <a:lstStyle/>
                    <a:p>
                      <a:pPr algn="l"/>
                      <a:r>
                        <a:rPr lang="en-IN" sz="1600" b="0" i="0" kern="1200" dirty="0" err="1">
                          <a:solidFill>
                            <a:schemeClr val="dk1"/>
                          </a:solidFill>
                          <a:effectLst/>
                          <a:latin typeface="+mn-lt"/>
                          <a:ea typeface="+mn-ea"/>
                          <a:cs typeface="+mn-cs"/>
                        </a:rPr>
                        <a:t>TMDb</a:t>
                      </a:r>
                      <a:r>
                        <a:rPr lang="en-IN" sz="1600" b="0" i="0" kern="1200" dirty="0">
                          <a:solidFill>
                            <a:schemeClr val="dk1"/>
                          </a:solidFill>
                          <a:effectLst/>
                          <a:latin typeface="+mn-lt"/>
                          <a:ea typeface="+mn-ea"/>
                          <a:cs typeface="+mn-cs"/>
                        </a:rPr>
                        <a:t> rating score</a:t>
                      </a:r>
                      <a:endParaRPr lang="en-US" sz="1600" b="0" i="0" dirty="0">
                        <a:solidFill>
                          <a:schemeClr val="accent6"/>
                        </a:solidFill>
                        <a:latin typeface="Posterama" panose="020B0504020200020000" pitchFamily="34" charset="0"/>
                        <a:cs typeface="Posterama" panose="020B0504020200020000" pitchFamily="34" charset="0"/>
                      </a:endParaRPr>
                    </a:p>
                  </a:txBody>
                  <a:tcPr anchor="ctr"/>
                </a:tc>
                <a:extLst>
                  <a:ext uri="{0D108BD9-81ED-4DB2-BD59-A6C34878D82A}">
                    <a16:rowId xmlns:a16="http://schemas.microsoft.com/office/drawing/2014/main" val="2380071953"/>
                  </a:ext>
                </a:extLst>
              </a:tr>
              <a:tr h="434120">
                <a:tc>
                  <a:txBody>
                    <a:bodyPr/>
                    <a:lstStyle/>
                    <a:p>
                      <a:pPr algn="l"/>
                      <a:r>
                        <a:rPr lang="en-US" sz="1600" b="0" i="0" dirty="0" err="1">
                          <a:solidFill>
                            <a:schemeClr val="accent6"/>
                          </a:solidFill>
                          <a:latin typeface="+mn-lt"/>
                          <a:cs typeface="Posterama" panose="020B0504020200020000" pitchFamily="34" charset="0"/>
                        </a:rPr>
                        <a:t>TMDb</a:t>
                      </a:r>
                      <a:r>
                        <a:rPr lang="en-US" sz="1600" b="0" i="0" dirty="0">
                          <a:solidFill>
                            <a:schemeClr val="accent6"/>
                          </a:solidFill>
                          <a:latin typeface="+mn-lt"/>
                          <a:cs typeface="Posterama" panose="020B0504020200020000" pitchFamily="34" charset="0"/>
                        </a:rPr>
                        <a:t> Popularity</a:t>
                      </a:r>
                    </a:p>
                  </a:txBody>
                  <a:tcPr anchor="ctr"/>
                </a:tc>
                <a:tc>
                  <a:txBody>
                    <a:bodyPr/>
                    <a:lstStyle/>
                    <a:p>
                      <a:pPr algn="l"/>
                      <a:r>
                        <a:rPr lang="en-US" sz="1600" b="0" i="0" dirty="0">
                          <a:solidFill>
                            <a:schemeClr val="accent6"/>
                          </a:solidFill>
                          <a:latin typeface="Posterama" panose="020B0504020200020000" pitchFamily="34" charset="0"/>
                          <a:cs typeface="Posterama" panose="020B0504020200020000" pitchFamily="34" charset="0"/>
                        </a:rPr>
                        <a:t>Whole Number</a:t>
                      </a:r>
                    </a:p>
                  </a:txBody>
                  <a:tcPr anchor="ctr"/>
                </a:tc>
                <a:tc>
                  <a:txBody>
                    <a:bodyPr/>
                    <a:lstStyle/>
                    <a:p>
                      <a:pPr algn="l"/>
                      <a:r>
                        <a:rPr lang="en-IN" sz="1600" b="0" i="0" kern="1200" dirty="0" err="1">
                          <a:solidFill>
                            <a:schemeClr val="dk1"/>
                          </a:solidFill>
                          <a:effectLst/>
                          <a:latin typeface="+mn-lt"/>
                          <a:ea typeface="+mn-ea"/>
                          <a:cs typeface="+mn-cs"/>
                        </a:rPr>
                        <a:t>TMDb</a:t>
                      </a:r>
                      <a:r>
                        <a:rPr lang="en-IN" sz="1600" b="0" i="0" kern="1200" dirty="0">
                          <a:solidFill>
                            <a:schemeClr val="dk1"/>
                          </a:solidFill>
                          <a:effectLst/>
                          <a:latin typeface="+mn-lt"/>
                          <a:ea typeface="+mn-ea"/>
                          <a:cs typeface="+mn-cs"/>
                        </a:rPr>
                        <a:t> popularity metric</a:t>
                      </a:r>
                      <a:endParaRPr lang="en-US" sz="1600" b="0" i="0" dirty="0">
                        <a:solidFill>
                          <a:schemeClr val="accent6"/>
                        </a:solidFill>
                        <a:latin typeface="Posterama" panose="020B0504020200020000" pitchFamily="34" charset="0"/>
                        <a:cs typeface="Posterama" panose="020B0504020200020000" pitchFamily="34" charset="0"/>
                      </a:endParaRPr>
                    </a:p>
                  </a:txBody>
                  <a:tcPr anchor="ctr"/>
                </a:tc>
                <a:extLst>
                  <a:ext uri="{0D108BD9-81ED-4DB2-BD59-A6C34878D82A}">
                    <a16:rowId xmlns:a16="http://schemas.microsoft.com/office/drawing/2014/main" val="3594864884"/>
                  </a:ext>
                </a:extLst>
              </a:tr>
            </a:tbl>
          </a:graphicData>
        </a:graphic>
      </p:graphicFrame>
      <p:sp>
        <p:nvSpPr>
          <p:cNvPr id="5" name="Footer Placeholder 4">
            <a:extLst>
              <a:ext uri="{FF2B5EF4-FFF2-40B4-BE49-F238E27FC236}">
                <a16:creationId xmlns:a16="http://schemas.microsoft.com/office/drawing/2014/main" id="{6D18E7F7-120D-E343-B41C-E8DF89FC0F49}"/>
              </a:ext>
            </a:extLst>
          </p:cNvPr>
          <p:cNvSpPr>
            <a:spLocks noGrp="1"/>
          </p:cNvSpPr>
          <p:nvPr>
            <p:ph type="ftr" sz="quarter" idx="28"/>
          </p:nvPr>
        </p:nvSpPr>
        <p:spPr>
          <a:xfrm>
            <a:off x="539239" y="6400482"/>
            <a:ext cx="4114800" cy="365125"/>
          </a:xfrm>
        </p:spPr>
        <p:txBody>
          <a:bodyPr/>
          <a:lstStyle/>
          <a:p>
            <a:r>
              <a:rPr lang="en-IN" dirty="0"/>
              <a:t>Netflix Content Analytics | Excel Dashboard</a:t>
            </a:r>
            <a:endParaRPr lang="en-US" dirty="0"/>
          </a:p>
        </p:txBody>
      </p:sp>
      <p:sp>
        <p:nvSpPr>
          <p:cNvPr id="7" name="Slide Number Placeholder 6">
            <a:extLst>
              <a:ext uri="{FF2B5EF4-FFF2-40B4-BE49-F238E27FC236}">
                <a16:creationId xmlns:a16="http://schemas.microsoft.com/office/drawing/2014/main" id="{8EA25C86-7BE3-4BC6-C0B8-7F7D7C3EC286}"/>
              </a:ext>
            </a:extLst>
          </p:cNvPr>
          <p:cNvSpPr>
            <a:spLocks noGrp="1"/>
          </p:cNvSpPr>
          <p:nvPr>
            <p:ph type="sldNum" sz="quarter" idx="29"/>
          </p:nvPr>
        </p:nvSpPr>
        <p:spPr/>
        <p:txBody>
          <a:bodyPr/>
          <a:lstStyle/>
          <a:p>
            <a:fld id="{47FEACEE-25B4-4A2D-B147-27296E36371D}" type="slidenum">
              <a:rPr lang="en-US" altLang="zh-CN" smtClean="0"/>
              <a:pPr/>
              <a:t>4</a:t>
            </a:fld>
            <a:endParaRPr lang="en-US" altLang="zh-CN" dirty="0"/>
          </a:p>
        </p:txBody>
      </p:sp>
      <p:sp>
        <p:nvSpPr>
          <p:cNvPr id="2" name="Rounded Rectangle 4">
            <a:extLst>
              <a:ext uri="{FF2B5EF4-FFF2-40B4-BE49-F238E27FC236}">
                <a16:creationId xmlns:a16="http://schemas.microsoft.com/office/drawing/2014/main" id="{2BFD5A0F-B65A-C9E7-05D5-9B6B14323EC0}"/>
              </a:ext>
            </a:extLst>
          </p:cNvPr>
          <p:cNvSpPr/>
          <p:nvPr/>
        </p:nvSpPr>
        <p:spPr>
          <a:xfrm>
            <a:off x="9438639" y="1011675"/>
            <a:ext cx="2376683" cy="1078784"/>
          </a:xfrm>
          <a:prstGeom prst="roundRect">
            <a:avLst/>
          </a:prstGeom>
          <a:solidFill>
            <a:schemeClr val="tx1">
              <a:lumMod val="95000"/>
              <a:lumOff val="5000"/>
            </a:schemeClr>
          </a:solidFill>
          <a:ln>
            <a:solidFill>
              <a:srgbClr val="E1E1E1"/>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700" b="1">
                <a:solidFill>
                  <a:srgbClr val="D2141E"/>
                </a:solidFill>
              </a:defRPr>
            </a:pPr>
            <a:r>
              <a:rPr lang="en-IN" dirty="0">
                <a:solidFill>
                  <a:schemeClr val="bg1"/>
                </a:solidFill>
              </a:rPr>
              <a:t>Total Rows</a:t>
            </a:r>
          </a:p>
          <a:p>
            <a:pPr algn="ctr">
              <a:defRPr sz="1700" b="1">
                <a:solidFill>
                  <a:srgbClr val="D2141E"/>
                </a:solidFill>
              </a:defRPr>
            </a:pPr>
            <a:r>
              <a:rPr lang="en-IN" dirty="0">
                <a:solidFill>
                  <a:schemeClr val="bg1"/>
                </a:solidFill>
              </a:rPr>
              <a:t>24599</a:t>
            </a:r>
            <a:endParaRPr dirty="0">
              <a:solidFill>
                <a:schemeClr val="bg1"/>
              </a:solidFill>
            </a:endParaRPr>
          </a:p>
        </p:txBody>
      </p:sp>
      <p:sp>
        <p:nvSpPr>
          <p:cNvPr id="4" name="Rounded Rectangle 4">
            <a:extLst>
              <a:ext uri="{FF2B5EF4-FFF2-40B4-BE49-F238E27FC236}">
                <a16:creationId xmlns:a16="http://schemas.microsoft.com/office/drawing/2014/main" id="{8736131F-CA54-412E-6186-C2EC452A36D0}"/>
              </a:ext>
            </a:extLst>
          </p:cNvPr>
          <p:cNvSpPr/>
          <p:nvPr/>
        </p:nvSpPr>
        <p:spPr>
          <a:xfrm>
            <a:off x="9438639" y="2391709"/>
            <a:ext cx="2376683" cy="1078784"/>
          </a:xfrm>
          <a:prstGeom prst="roundRect">
            <a:avLst/>
          </a:prstGeom>
          <a:solidFill>
            <a:schemeClr val="tx1">
              <a:lumMod val="95000"/>
              <a:lumOff val="5000"/>
            </a:schemeClr>
          </a:solidFill>
          <a:ln>
            <a:solidFill>
              <a:srgbClr val="E1E1E1"/>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700" b="1">
                <a:solidFill>
                  <a:srgbClr val="D2141E"/>
                </a:solidFill>
              </a:defRPr>
            </a:pPr>
            <a:r>
              <a:rPr lang="en-IN" dirty="0">
                <a:solidFill>
                  <a:schemeClr val="bg1"/>
                </a:solidFill>
              </a:rPr>
              <a:t>Movies/Shows</a:t>
            </a:r>
          </a:p>
          <a:p>
            <a:pPr algn="ctr">
              <a:defRPr sz="1700" b="1">
                <a:solidFill>
                  <a:srgbClr val="D2141E"/>
                </a:solidFill>
              </a:defRPr>
            </a:pPr>
            <a:r>
              <a:rPr lang="en-IN" dirty="0">
                <a:solidFill>
                  <a:schemeClr val="bg1"/>
                </a:solidFill>
              </a:rPr>
              <a:t>52% / 48%</a:t>
            </a:r>
          </a:p>
        </p:txBody>
      </p:sp>
      <p:sp>
        <p:nvSpPr>
          <p:cNvPr id="6" name="Rounded Rectangle 4">
            <a:extLst>
              <a:ext uri="{FF2B5EF4-FFF2-40B4-BE49-F238E27FC236}">
                <a16:creationId xmlns:a16="http://schemas.microsoft.com/office/drawing/2014/main" id="{575DD16A-8543-99BF-4564-354072CC21CC}"/>
              </a:ext>
            </a:extLst>
          </p:cNvPr>
          <p:cNvSpPr/>
          <p:nvPr/>
        </p:nvSpPr>
        <p:spPr>
          <a:xfrm>
            <a:off x="9438638" y="3771743"/>
            <a:ext cx="2376683" cy="1078784"/>
          </a:xfrm>
          <a:prstGeom prst="roundRect">
            <a:avLst/>
          </a:prstGeom>
          <a:solidFill>
            <a:schemeClr val="tx1">
              <a:lumMod val="95000"/>
              <a:lumOff val="5000"/>
            </a:schemeClr>
          </a:solidFill>
          <a:ln>
            <a:solidFill>
              <a:srgbClr val="E1E1E1"/>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700" b="1">
                <a:solidFill>
                  <a:srgbClr val="D2141E"/>
                </a:solidFill>
              </a:defRPr>
            </a:pPr>
            <a:r>
              <a:rPr lang="en-IN" dirty="0">
                <a:solidFill>
                  <a:schemeClr val="bg1"/>
                </a:solidFill>
              </a:rPr>
              <a:t>Unique Titles</a:t>
            </a:r>
          </a:p>
          <a:p>
            <a:pPr algn="ctr">
              <a:defRPr sz="1700" b="1">
                <a:solidFill>
                  <a:srgbClr val="D2141E"/>
                </a:solidFill>
              </a:defRPr>
            </a:pPr>
            <a:r>
              <a:rPr lang="en-IN" dirty="0">
                <a:solidFill>
                  <a:schemeClr val="bg1"/>
                </a:solidFill>
              </a:rPr>
              <a:t>6957 </a:t>
            </a:r>
            <a:endParaRPr dirty="0">
              <a:solidFill>
                <a:schemeClr val="bg1"/>
              </a:solidFill>
            </a:endParaRPr>
          </a:p>
        </p:txBody>
      </p:sp>
      <p:sp>
        <p:nvSpPr>
          <p:cNvPr id="9" name="Rounded Rectangle 4">
            <a:extLst>
              <a:ext uri="{FF2B5EF4-FFF2-40B4-BE49-F238E27FC236}">
                <a16:creationId xmlns:a16="http://schemas.microsoft.com/office/drawing/2014/main" id="{4CFB6574-5B56-2CAE-F94A-656EA5921B91}"/>
              </a:ext>
            </a:extLst>
          </p:cNvPr>
          <p:cNvSpPr/>
          <p:nvPr/>
        </p:nvSpPr>
        <p:spPr>
          <a:xfrm>
            <a:off x="9438638" y="5139136"/>
            <a:ext cx="2376683" cy="1078784"/>
          </a:xfrm>
          <a:prstGeom prst="roundRect">
            <a:avLst/>
          </a:prstGeom>
          <a:solidFill>
            <a:schemeClr val="tx1">
              <a:lumMod val="95000"/>
              <a:lumOff val="5000"/>
            </a:schemeClr>
          </a:solidFill>
          <a:ln>
            <a:solidFill>
              <a:srgbClr val="E1E1E1"/>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700" b="1">
                <a:solidFill>
                  <a:srgbClr val="D2141E"/>
                </a:solidFill>
              </a:defRPr>
            </a:pPr>
            <a:r>
              <a:rPr lang="en-IN" dirty="0">
                <a:solidFill>
                  <a:schemeClr val="bg1"/>
                </a:solidFill>
              </a:rPr>
              <a:t>Missing Values</a:t>
            </a:r>
          </a:p>
          <a:p>
            <a:pPr algn="ctr">
              <a:defRPr sz="1700" b="1">
                <a:solidFill>
                  <a:srgbClr val="D2141E"/>
                </a:solidFill>
              </a:defRPr>
            </a:pPr>
            <a:r>
              <a:rPr lang="en-IN" dirty="0">
                <a:solidFill>
                  <a:schemeClr val="bg1"/>
                </a:solidFill>
              </a:rPr>
              <a:t>1821</a:t>
            </a:r>
            <a:endParaRPr dirty="0">
              <a:solidFill>
                <a:schemeClr val="bg1"/>
              </a:solidFill>
            </a:endParaRPr>
          </a:p>
        </p:txBody>
      </p:sp>
    </p:spTree>
    <p:extLst>
      <p:ext uri="{BB962C8B-B14F-4D97-AF65-F5344CB8AC3E}">
        <p14:creationId xmlns:p14="http://schemas.microsoft.com/office/powerpoint/2010/main" val="1246021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Hexagon 37">
            <a:extLst>
              <a:ext uri="{FF2B5EF4-FFF2-40B4-BE49-F238E27FC236}">
                <a16:creationId xmlns:a16="http://schemas.microsoft.com/office/drawing/2014/main" id="{90CD36D8-953F-BB99-0657-A639AC3F8297}"/>
              </a:ext>
            </a:extLst>
          </p:cNvPr>
          <p:cNvSpPr/>
          <p:nvPr/>
        </p:nvSpPr>
        <p:spPr>
          <a:xfrm rot="16200000">
            <a:off x="8103497" y="3793159"/>
            <a:ext cx="1239520" cy="1173264"/>
          </a:xfrm>
          <a:prstGeom prst="hexagon">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8900000" scaled="1"/>
            <a:tileRect/>
          </a:gra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Hexagon 38">
            <a:extLst>
              <a:ext uri="{FF2B5EF4-FFF2-40B4-BE49-F238E27FC236}">
                <a16:creationId xmlns:a16="http://schemas.microsoft.com/office/drawing/2014/main" id="{B3357D34-C537-323E-64D5-A7CCFFD32D1D}"/>
              </a:ext>
            </a:extLst>
          </p:cNvPr>
          <p:cNvSpPr/>
          <p:nvPr/>
        </p:nvSpPr>
        <p:spPr>
          <a:xfrm rot="16200000">
            <a:off x="8042470" y="548661"/>
            <a:ext cx="1239520" cy="1173264"/>
          </a:xfrm>
          <a:prstGeom prst="hexagon">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8900000" scaled="1"/>
            <a:tileRect/>
          </a:gra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Hexagon 39">
            <a:extLst>
              <a:ext uri="{FF2B5EF4-FFF2-40B4-BE49-F238E27FC236}">
                <a16:creationId xmlns:a16="http://schemas.microsoft.com/office/drawing/2014/main" id="{19DC84EC-D788-E1E2-B332-104FD7D34673}"/>
              </a:ext>
            </a:extLst>
          </p:cNvPr>
          <p:cNvSpPr/>
          <p:nvPr/>
        </p:nvSpPr>
        <p:spPr>
          <a:xfrm rot="16200000">
            <a:off x="8042470" y="2103644"/>
            <a:ext cx="1239520" cy="1173264"/>
          </a:xfrm>
          <a:prstGeom prst="hexagon">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IN"/>
          </a:p>
        </p:txBody>
      </p:sp>
      <p:sp>
        <p:nvSpPr>
          <p:cNvPr id="32" name="Hexagon 31">
            <a:extLst>
              <a:ext uri="{FF2B5EF4-FFF2-40B4-BE49-F238E27FC236}">
                <a16:creationId xmlns:a16="http://schemas.microsoft.com/office/drawing/2014/main" id="{4D61CD19-4338-72E5-40B9-E33F30228C56}"/>
              </a:ext>
            </a:extLst>
          </p:cNvPr>
          <p:cNvSpPr/>
          <p:nvPr/>
        </p:nvSpPr>
        <p:spPr>
          <a:xfrm rot="16200000">
            <a:off x="4250542" y="3699101"/>
            <a:ext cx="1239520" cy="1173264"/>
          </a:xfrm>
          <a:prstGeom prst="hexagon">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IN"/>
          </a:p>
        </p:txBody>
      </p:sp>
      <p:sp>
        <p:nvSpPr>
          <p:cNvPr id="33" name="Hexagon 32">
            <a:extLst>
              <a:ext uri="{FF2B5EF4-FFF2-40B4-BE49-F238E27FC236}">
                <a16:creationId xmlns:a16="http://schemas.microsoft.com/office/drawing/2014/main" id="{9103EFF3-BA19-A423-2C0A-70F85A1FC44E}"/>
              </a:ext>
            </a:extLst>
          </p:cNvPr>
          <p:cNvSpPr/>
          <p:nvPr/>
        </p:nvSpPr>
        <p:spPr>
          <a:xfrm rot="16200000">
            <a:off x="4250542" y="5265528"/>
            <a:ext cx="1239520" cy="1173264"/>
          </a:xfrm>
          <a:prstGeom prst="hexagon">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8900000" scaled="1"/>
            <a:tileRect/>
          </a:gra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Title 55">
            <a:extLst>
              <a:ext uri="{FF2B5EF4-FFF2-40B4-BE49-F238E27FC236}">
                <a16:creationId xmlns:a16="http://schemas.microsoft.com/office/drawing/2014/main" id="{19576725-5FD5-0E5D-4FD3-2E35020D8306}"/>
              </a:ext>
            </a:extLst>
          </p:cNvPr>
          <p:cNvSpPr>
            <a:spLocks noGrp="1"/>
          </p:cNvSpPr>
          <p:nvPr>
            <p:ph type="title"/>
          </p:nvPr>
        </p:nvSpPr>
        <p:spPr>
          <a:xfrm>
            <a:off x="509574" y="2367293"/>
            <a:ext cx="3909993" cy="1408223"/>
          </a:xfrm>
        </p:spPr>
        <p:txBody>
          <a:bodyPr/>
          <a:lstStyle/>
          <a:p>
            <a:r>
              <a:rPr lang="en-US" dirty="0"/>
              <a:t>Data Cleaning</a:t>
            </a:r>
          </a:p>
        </p:txBody>
      </p:sp>
      <p:sp>
        <p:nvSpPr>
          <p:cNvPr id="4" name="Footer Placeholder 3">
            <a:extLst>
              <a:ext uri="{FF2B5EF4-FFF2-40B4-BE49-F238E27FC236}">
                <a16:creationId xmlns:a16="http://schemas.microsoft.com/office/drawing/2014/main" id="{7287D169-32E8-A3EE-E540-39E11489C0B2}"/>
              </a:ext>
            </a:extLst>
          </p:cNvPr>
          <p:cNvSpPr>
            <a:spLocks noGrp="1"/>
          </p:cNvSpPr>
          <p:nvPr>
            <p:ph type="ftr" sz="quarter" idx="76"/>
          </p:nvPr>
        </p:nvSpPr>
        <p:spPr/>
        <p:txBody>
          <a:bodyPr/>
          <a:lstStyle/>
          <a:p>
            <a:r>
              <a:rPr lang="en-IN" dirty="0"/>
              <a:t>Netflix Content Analytics | Excel Dashboard</a:t>
            </a:r>
            <a:endParaRPr lang="en-US" dirty="0"/>
          </a:p>
        </p:txBody>
      </p:sp>
      <p:sp>
        <p:nvSpPr>
          <p:cNvPr id="134" name="Text Placeholder 133">
            <a:extLst>
              <a:ext uri="{FF2B5EF4-FFF2-40B4-BE49-F238E27FC236}">
                <a16:creationId xmlns:a16="http://schemas.microsoft.com/office/drawing/2014/main" id="{EF408C39-F36B-8A49-1F7E-837E35969338}"/>
              </a:ext>
            </a:extLst>
          </p:cNvPr>
          <p:cNvSpPr>
            <a:spLocks noGrp="1"/>
          </p:cNvSpPr>
          <p:nvPr>
            <p:ph type="body" sz="quarter" idx="27"/>
          </p:nvPr>
        </p:nvSpPr>
        <p:spPr/>
        <p:txBody>
          <a:bodyPr/>
          <a:lstStyle/>
          <a:p>
            <a:pPr marL="0" indent="0">
              <a:buNone/>
            </a:pPr>
            <a:r>
              <a:rPr lang="en-US" sz="1800" b="1" dirty="0">
                <a:solidFill>
                  <a:srgbClr val="232F3E"/>
                </a:solidFill>
                <a:latin typeface="Calibri" pitchFamily="34" charset="0"/>
                <a:ea typeface="Calibri" pitchFamily="34" charset="-122"/>
                <a:cs typeface="Calibri" pitchFamily="34" charset="-120"/>
              </a:rPr>
              <a:t>Promote Headers &amp; Set Types</a:t>
            </a:r>
            <a:endParaRPr lang="en-US" sz="1800" dirty="0"/>
          </a:p>
        </p:txBody>
      </p:sp>
      <p:sp>
        <p:nvSpPr>
          <p:cNvPr id="112" name="Text Placeholder 111">
            <a:extLst>
              <a:ext uri="{FF2B5EF4-FFF2-40B4-BE49-F238E27FC236}">
                <a16:creationId xmlns:a16="http://schemas.microsoft.com/office/drawing/2014/main" id="{18AF0A56-DD67-89FC-BFA3-15B61F65CDDA}"/>
              </a:ext>
            </a:extLst>
          </p:cNvPr>
          <p:cNvSpPr>
            <a:spLocks noGrp="1"/>
          </p:cNvSpPr>
          <p:nvPr>
            <p:ph type="body" sz="quarter" idx="28"/>
          </p:nvPr>
        </p:nvSpPr>
        <p:spPr>
          <a:xfrm>
            <a:off x="5520211" y="1165881"/>
            <a:ext cx="2289842" cy="617418"/>
          </a:xfrm>
        </p:spPr>
        <p:txBody>
          <a:bodyPr/>
          <a:lstStyle/>
          <a:p>
            <a:r>
              <a:rPr lang="en-US" dirty="0"/>
              <a:t>First row-&gt;headers; genre, title, type, release year, runtime, etc. </a:t>
            </a:r>
          </a:p>
        </p:txBody>
      </p:sp>
      <p:sp>
        <p:nvSpPr>
          <p:cNvPr id="136" name="Text Placeholder 135">
            <a:extLst>
              <a:ext uri="{FF2B5EF4-FFF2-40B4-BE49-F238E27FC236}">
                <a16:creationId xmlns:a16="http://schemas.microsoft.com/office/drawing/2014/main" id="{9BEF75AB-A2CF-6495-E59F-B961022728C8}"/>
              </a:ext>
            </a:extLst>
          </p:cNvPr>
          <p:cNvSpPr>
            <a:spLocks noGrp="1"/>
          </p:cNvSpPr>
          <p:nvPr>
            <p:ph type="body" sz="quarter" idx="57"/>
          </p:nvPr>
        </p:nvSpPr>
        <p:spPr/>
        <p:txBody>
          <a:bodyPr/>
          <a:lstStyle/>
          <a:p>
            <a:pPr marL="0" indent="0">
              <a:buNone/>
            </a:pPr>
            <a:r>
              <a:rPr lang="en-US" sz="1800" b="1" dirty="0">
                <a:solidFill>
                  <a:srgbClr val="232F3E"/>
                </a:solidFill>
                <a:latin typeface="Calibri" pitchFamily="34" charset="0"/>
                <a:ea typeface="Calibri" pitchFamily="34" charset="-122"/>
                <a:cs typeface="Calibri" pitchFamily="34" charset="-120"/>
              </a:rPr>
              <a:t>Trim Text</a:t>
            </a:r>
            <a:endParaRPr lang="en-US" sz="1800" dirty="0"/>
          </a:p>
        </p:txBody>
      </p:sp>
      <p:sp>
        <p:nvSpPr>
          <p:cNvPr id="114" name="Text Placeholder 113">
            <a:extLst>
              <a:ext uri="{FF2B5EF4-FFF2-40B4-BE49-F238E27FC236}">
                <a16:creationId xmlns:a16="http://schemas.microsoft.com/office/drawing/2014/main" id="{DA3CD37D-77A2-AD3B-C73E-09D174DD7546}"/>
              </a:ext>
            </a:extLst>
          </p:cNvPr>
          <p:cNvSpPr>
            <a:spLocks noGrp="1"/>
          </p:cNvSpPr>
          <p:nvPr>
            <p:ph type="body" sz="quarter" idx="58"/>
          </p:nvPr>
        </p:nvSpPr>
        <p:spPr/>
        <p:txBody>
          <a:bodyPr/>
          <a:lstStyle/>
          <a:p>
            <a:r>
              <a:rPr lang="en-US" altLang="zh-CN" dirty="0"/>
              <a:t>Applied to genre, title, type, description.</a:t>
            </a:r>
          </a:p>
        </p:txBody>
      </p:sp>
      <p:sp>
        <p:nvSpPr>
          <p:cNvPr id="138" name="Text Placeholder 137">
            <a:extLst>
              <a:ext uri="{FF2B5EF4-FFF2-40B4-BE49-F238E27FC236}">
                <a16:creationId xmlns:a16="http://schemas.microsoft.com/office/drawing/2014/main" id="{204E9DAA-AA37-4F2D-9A54-5AA8DCEAB892}"/>
              </a:ext>
            </a:extLst>
          </p:cNvPr>
          <p:cNvSpPr>
            <a:spLocks noGrp="1"/>
          </p:cNvSpPr>
          <p:nvPr>
            <p:ph type="body" sz="quarter" idx="61"/>
          </p:nvPr>
        </p:nvSpPr>
        <p:spPr/>
        <p:txBody>
          <a:bodyPr/>
          <a:lstStyle/>
          <a:p>
            <a:pPr marL="0" indent="0">
              <a:buNone/>
            </a:pPr>
            <a:r>
              <a:rPr lang="en-US" sz="1800" b="1" dirty="0">
                <a:solidFill>
                  <a:srgbClr val="232F3E"/>
                </a:solidFill>
                <a:latin typeface="Calibri" pitchFamily="34" charset="0"/>
                <a:ea typeface="Calibri" pitchFamily="34" charset="-122"/>
                <a:cs typeface="Calibri" pitchFamily="34" charset="-120"/>
              </a:rPr>
              <a:t>Standardize Case</a:t>
            </a:r>
            <a:endParaRPr lang="en-US" sz="1800" dirty="0"/>
          </a:p>
        </p:txBody>
      </p:sp>
      <p:sp>
        <p:nvSpPr>
          <p:cNvPr id="116" name="Text Placeholder 115">
            <a:extLst>
              <a:ext uri="{FF2B5EF4-FFF2-40B4-BE49-F238E27FC236}">
                <a16:creationId xmlns:a16="http://schemas.microsoft.com/office/drawing/2014/main" id="{F6ED7D00-5342-1D60-DDDB-D53A1710D96C}"/>
              </a:ext>
            </a:extLst>
          </p:cNvPr>
          <p:cNvSpPr>
            <a:spLocks noGrp="1"/>
          </p:cNvSpPr>
          <p:nvPr>
            <p:ph type="body" sz="quarter" idx="62"/>
          </p:nvPr>
        </p:nvSpPr>
        <p:spPr>
          <a:xfrm>
            <a:off x="5520211" y="4312077"/>
            <a:ext cx="2098038" cy="727088"/>
          </a:xfrm>
        </p:spPr>
        <p:txBody>
          <a:bodyPr/>
          <a:lstStyle/>
          <a:p>
            <a:r>
              <a:rPr lang="en-US" altLang="zh-CN" dirty="0"/>
              <a:t>Format-&gt;Capitalize each word on columns having Text datatype.</a:t>
            </a:r>
          </a:p>
        </p:txBody>
      </p:sp>
      <p:sp>
        <p:nvSpPr>
          <p:cNvPr id="142" name="Text Placeholder 141">
            <a:extLst>
              <a:ext uri="{FF2B5EF4-FFF2-40B4-BE49-F238E27FC236}">
                <a16:creationId xmlns:a16="http://schemas.microsoft.com/office/drawing/2014/main" id="{E919136D-3B44-DA2F-E7D4-D6EEF99678A5}"/>
              </a:ext>
            </a:extLst>
          </p:cNvPr>
          <p:cNvSpPr>
            <a:spLocks noGrp="1"/>
          </p:cNvSpPr>
          <p:nvPr>
            <p:ph type="body" sz="quarter" idx="65"/>
          </p:nvPr>
        </p:nvSpPr>
        <p:spPr/>
        <p:txBody>
          <a:bodyPr/>
          <a:lstStyle/>
          <a:p>
            <a:pPr marL="0" indent="0">
              <a:buNone/>
            </a:pPr>
            <a:r>
              <a:rPr lang="en-US" dirty="0">
                <a:solidFill>
                  <a:srgbClr val="232F3E"/>
                </a:solidFill>
                <a:latin typeface="Calibri" pitchFamily="34" charset="0"/>
                <a:ea typeface="Calibri" pitchFamily="34" charset="-122"/>
                <a:cs typeface="Calibri" pitchFamily="34" charset="-120"/>
              </a:rPr>
              <a:t>Checking</a:t>
            </a:r>
            <a:r>
              <a:rPr lang="en-US" sz="1800" b="1" dirty="0">
                <a:solidFill>
                  <a:srgbClr val="232F3E"/>
                </a:solidFill>
                <a:latin typeface="Calibri" pitchFamily="34" charset="0"/>
                <a:ea typeface="Calibri" pitchFamily="34" charset="-122"/>
                <a:cs typeface="Calibri" pitchFamily="34" charset="-120"/>
              </a:rPr>
              <a:t> Duplicate Rows</a:t>
            </a:r>
            <a:endParaRPr lang="en-US" sz="1800" dirty="0"/>
          </a:p>
        </p:txBody>
      </p:sp>
      <p:sp>
        <p:nvSpPr>
          <p:cNvPr id="118" name="Text Placeholder 117">
            <a:extLst>
              <a:ext uri="{FF2B5EF4-FFF2-40B4-BE49-F238E27FC236}">
                <a16:creationId xmlns:a16="http://schemas.microsoft.com/office/drawing/2014/main" id="{00CC9081-1965-5E10-5A66-018337A9F4FF}"/>
              </a:ext>
            </a:extLst>
          </p:cNvPr>
          <p:cNvSpPr>
            <a:spLocks noGrp="1"/>
          </p:cNvSpPr>
          <p:nvPr>
            <p:ph type="body" sz="quarter" idx="66"/>
          </p:nvPr>
        </p:nvSpPr>
        <p:spPr>
          <a:xfrm>
            <a:off x="5520211" y="5901594"/>
            <a:ext cx="2098038" cy="681451"/>
          </a:xfrm>
        </p:spPr>
        <p:txBody>
          <a:bodyPr/>
          <a:lstStyle/>
          <a:p>
            <a:r>
              <a:rPr lang="en-US" altLang="zh-CN" dirty="0"/>
              <a:t>No duplicate columns, titles contain unique values.</a:t>
            </a:r>
            <a:endParaRPr lang="zh-CN" altLang="en-US" dirty="0"/>
          </a:p>
        </p:txBody>
      </p:sp>
      <p:sp>
        <p:nvSpPr>
          <p:cNvPr id="132" name="Text Placeholder 131">
            <a:extLst>
              <a:ext uri="{FF2B5EF4-FFF2-40B4-BE49-F238E27FC236}">
                <a16:creationId xmlns:a16="http://schemas.microsoft.com/office/drawing/2014/main" id="{86CBC7CA-4E3E-1E11-06FC-F3D5FEF919A6}"/>
              </a:ext>
            </a:extLst>
          </p:cNvPr>
          <p:cNvSpPr>
            <a:spLocks noGrp="1"/>
          </p:cNvSpPr>
          <p:nvPr>
            <p:ph type="body" sz="quarter" idx="55"/>
          </p:nvPr>
        </p:nvSpPr>
        <p:spPr/>
        <p:txBody>
          <a:bodyPr/>
          <a:lstStyle/>
          <a:p>
            <a:pPr marL="0" indent="0">
              <a:buNone/>
            </a:pPr>
            <a:r>
              <a:rPr lang="en-US" sz="1800" b="1" dirty="0">
                <a:solidFill>
                  <a:srgbClr val="232F3E"/>
                </a:solidFill>
                <a:latin typeface="Calibri" pitchFamily="34" charset="0"/>
                <a:ea typeface="Calibri" pitchFamily="34" charset="-122"/>
                <a:cs typeface="Calibri" pitchFamily="34" charset="-120"/>
              </a:rPr>
              <a:t>Handle Missing Values</a:t>
            </a:r>
            <a:endParaRPr lang="en-US" sz="1800" dirty="0"/>
          </a:p>
        </p:txBody>
      </p:sp>
      <p:sp>
        <p:nvSpPr>
          <p:cNvPr id="110" name="Text Placeholder 109">
            <a:extLst>
              <a:ext uri="{FF2B5EF4-FFF2-40B4-BE49-F238E27FC236}">
                <a16:creationId xmlns:a16="http://schemas.microsoft.com/office/drawing/2014/main" id="{A8D8F964-5152-933F-0FD8-0441EF137004}"/>
              </a:ext>
            </a:extLst>
          </p:cNvPr>
          <p:cNvSpPr>
            <a:spLocks noGrp="1"/>
          </p:cNvSpPr>
          <p:nvPr>
            <p:ph type="body" sz="quarter" idx="56"/>
          </p:nvPr>
        </p:nvSpPr>
        <p:spPr>
          <a:xfrm>
            <a:off x="9309891" y="1165881"/>
            <a:ext cx="2098037" cy="701144"/>
          </a:xfrm>
        </p:spPr>
        <p:txBody>
          <a:bodyPr/>
          <a:lstStyle/>
          <a:p>
            <a:r>
              <a:rPr lang="en-US" dirty="0"/>
              <a:t>Replaced all the empty columns having numeric data type with 0.</a:t>
            </a:r>
          </a:p>
        </p:txBody>
      </p:sp>
      <p:sp>
        <p:nvSpPr>
          <p:cNvPr id="130" name="Text Placeholder 129">
            <a:extLst>
              <a:ext uri="{FF2B5EF4-FFF2-40B4-BE49-F238E27FC236}">
                <a16:creationId xmlns:a16="http://schemas.microsoft.com/office/drawing/2014/main" id="{D7A3F7B8-39FC-A0C3-B527-8DD7897C3C2A}"/>
              </a:ext>
            </a:extLst>
          </p:cNvPr>
          <p:cNvSpPr>
            <a:spLocks noGrp="1"/>
          </p:cNvSpPr>
          <p:nvPr>
            <p:ph type="body" sz="quarter" idx="59"/>
          </p:nvPr>
        </p:nvSpPr>
        <p:spPr>
          <a:xfrm>
            <a:off x="9309889" y="1870128"/>
            <a:ext cx="2098039" cy="701144"/>
          </a:xfrm>
        </p:spPr>
        <p:txBody>
          <a:bodyPr/>
          <a:lstStyle/>
          <a:p>
            <a:r>
              <a:rPr lang="en-US" altLang="zh-CN" dirty="0"/>
              <a:t>Format Change</a:t>
            </a:r>
          </a:p>
        </p:txBody>
      </p:sp>
      <p:sp>
        <p:nvSpPr>
          <p:cNvPr id="108" name="Text Placeholder 107">
            <a:extLst>
              <a:ext uri="{FF2B5EF4-FFF2-40B4-BE49-F238E27FC236}">
                <a16:creationId xmlns:a16="http://schemas.microsoft.com/office/drawing/2014/main" id="{9DD2EF71-C588-557C-6805-3BA27A14E29B}"/>
              </a:ext>
            </a:extLst>
          </p:cNvPr>
          <p:cNvSpPr>
            <a:spLocks noGrp="1"/>
          </p:cNvSpPr>
          <p:nvPr>
            <p:ph type="body" sz="quarter" idx="60"/>
          </p:nvPr>
        </p:nvSpPr>
        <p:spPr>
          <a:xfrm>
            <a:off x="9431745" y="2544153"/>
            <a:ext cx="2098038" cy="926031"/>
          </a:xfrm>
        </p:spPr>
        <p:txBody>
          <a:bodyPr/>
          <a:lstStyle/>
          <a:p>
            <a:r>
              <a:rPr lang="en-US" altLang="zh-CN" dirty="0"/>
              <a:t>Changed the format of the released year by creating a new column. Ex: 1945 to 1940s</a:t>
            </a:r>
          </a:p>
          <a:p>
            <a:endParaRPr lang="zh-CN" altLang="en-US" dirty="0"/>
          </a:p>
        </p:txBody>
      </p:sp>
      <p:sp>
        <p:nvSpPr>
          <p:cNvPr id="140" name="Text Placeholder 139">
            <a:extLst>
              <a:ext uri="{FF2B5EF4-FFF2-40B4-BE49-F238E27FC236}">
                <a16:creationId xmlns:a16="http://schemas.microsoft.com/office/drawing/2014/main" id="{2528F54A-A46A-9326-2193-943237532FCE}"/>
              </a:ext>
            </a:extLst>
          </p:cNvPr>
          <p:cNvSpPr>
            <a:spLocks noGrp="1"/>
          </p:cNvSpPr>
          <p:nvPr>
            <p:ph type="body" sz="quarter" idx="67"/>
          </p:nvPr>
        </p:nvSpPr>
        <p:spPr>
          <a:xfrm>
            <a:off x="9472459" y="3906108"/>
            <a:ext cx="2098039" cy="506399"/>
          </a:xfrm>
        </p:spPr>
        <p:txBody>
          <a:bodyPr/>
          <a:lstStyle/>
          <a:p>
            <a:pPr marL="0" indent="0">
              <a:buNone/>
            </a:pPr>
            <a:r>
              <a:rPr lang="en-US" sz="1800" b="1" dirty="0">
                <a:solidFill>
                  <a:srgbClr val="232F3E"/>
                </a:solidFill>
                <a:latin typeface="Calibri" pitchFamily="34" charset="0"/>
                <a:ea typeface="Calibri" pitchFamily="34" charset="-122"/>
                <a:cs typeface="Calibri" pitchFamily="34" charset="-120"/>
              </a:rPr>
              <a:t>Close &amp; Load to Model</a:t>
            </a:r>
            <a:endParaRPr lang="en-US" sz="1800" dirty="0"/>
          </a:p>
        </p:txBody>
      </p:sp>
      <p:sp>
        <p:nvSpPr>
          <p:cNvPr id="104" name="Text Placeholder 103">
            <a:extLst>
              <a:ext uri="{FF2B5EF4-FFF2-40B4-BE49-F238E27FC236}">
                <a16:creationId xmlns:a16="http://schemas.microsoft.com/office/drawing/2014/main" id="{518FD4E8-9A30-D19A-0CE1-E025FDE22A18}"/>
              </a:ext>
            </a:extLst>
          </p:cNvPr>
          <p:cNvSpPr>
            <a:spLocks noGrp="1"/>
          </p:cNvSpPr>
          <p:nvPr>
            <p:ph type="body" sz="quarter" idx="68"/>
          </p:nvPr>
        </p:nvSpPr>
        <p:spPr>
          <a:xfrm>
            <a:off x="9472459" y="4441189"/>
            <a:ext cx="2098038" cy="506399"/>
          </a:xfrm>
        </p:spPr>
        <p:txBody>
          <a:bodyPr/>
          <a:lstStyle/>
          <a:p>
            <a:r>
              <a:rPr lang="en-US" altLang="zh-CN" dirty="0"/>
              <a:t>Loaded the clean table into excel.</a:t>
            </a:r>
            <a:endParaRPr lang="zh-CN" altLang="en-US" dirty="0"/>
          </a:p>
        </p:txBody>
      </p:sp>
      <p:sp>
        <p:nvSpPr>
          <p:cNvPr id="5" name="Slide Number Placeholder 4">
            <a:extLst>
              <a:ext uri="{FF2B5EF4-FFF2-40B4-BE49-F238E27FC236}">
                <a16:creationId xmlns:a16="http://schemas.microsoft.com/office/drawing/2014/main" id="{0A3F816F-E557-EF17-FA3D-67F4F647CA3C}"/>
              </a:ext>
            </a:extLst>
          </p:cNvPr>
          <p:cNvSpPr>
            <a:spLocks noGrp="1"/>
          </p:cNvSpPr>
          <p:nvPr>
            <p:ph type="sldNum" sz="quarter" idx="77"/>
          </p:nvPr>
        </p:nvSpPr>
        <p:spPr/>
        <p:txBody>
          <a:bodyPr/>
          <a:lstStyle/>
          <a:p>
            <a:fld id="{47FEACEE-25B4-4A2D-B147-27296E36371D}" type="slidenum">
              <a:rPr lang="en-US" altLang="zh-CN" smtClean="0"/>
              <a:pPr/>
              <a:t>5</a:t>
            </a:fld>
            <a:endParaRPr lang="en-US" altLang="zh-CN" dirty="0"/>
          </a:p>
        </p:txBody>
      </p:sp>
      <p:sp>
        <p:nvSpPr>
          <p:cNvPr id="29" name="Hexagon 28">
            <a:extLst>
              <a:ext uri="{FF2B5EF4-FFF2-40B4-BE49-F238E27FC236}">
                <a16:creationId xmlns:a16="http://schemas.microsoft.com/office/drawing/2014/main" id="{9A14F618-BC71-7ADC-6404-C8A3018267BB}"/>
              </a:ext>
            </a:extLst>
          </p:cNvPr>
          <p:cNvSpPr/>
          <p:nvPr/>
        </p:nvSpPr>
        <p:spPr>
          <a:xfrm rot="16200000">
            <a:off x="4236668" y="589134"/>
            <a:ext cx="1239520" cy="1173264"/>
          </a:xfrm>
          <a:prstGeom prst="hexagon">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IN"/>
          </a:p>
        </p:txBody>
      </p:sp>
      <p:sp>
        <p:nvSpPr>
          <p:cNvPr id="31" name="Hexagon 30">
            <a:extLst>
              <a:ext uri="{FF2B5EF4-FFF2-40B4-BE49-F238E27FC236}">
                <a16:creationId xmlns:a16="http://schemas.microsoft.com/office/drawing/2014/main" id="{44032358-B8C4-1DC9-F2CE-616B10C1811C}"/>
              </a:ext>
            </a:extLst>
          </p:cNvPr>
          <p:cNvSpPr/>
          <p:nvPr/>
        </p:nvSpPr>
        <p:spPr>
          <a:xfrm rot="16200000">
            <a:off x="4236668" y="2144117"/>
            <a:ext cx="1239520" cy="1173264"/>
          </a:xfrm>
          <a:prstGeom prst="hexagon">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8900000" scaled="1"/>
            <a:tileRect/>
          </a:gra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8254E56D-7779-1D0C-9AD4-98895629714A}"/>
              </a:ext>
            </a:extLst>
          </p:cNvPr>
          <p:cNvSpPr txBox="1"/>
          <p:nvPr/>
        </p:nvSpPr>
        <p:spPr>
          <a:xfrm>
            <a:off x="4444912" y="825900"/>
            <a:ext cx="850779" cy="646331"/>
          </a:xfrm>
          <a:prstGeom prst="rect">
            <a:avLst/>
          </a:prstGeom>
        </p:spPr>
        <p:txBody>
          <a:bodyPr wrap="square" rtlCol="0">
            <a:spAutoFit/>
          </a:bodyPr>
          <a:lstStyle/>
          <a:p>
            <a:pPr marL="0" indent="0" algn="ctr">
              <a:lnSpc>
                <a:spcPct val="100000"/>
              </a:lnSpc>
              <a:spcBef>
                <a:spcPts val="0"/>
              </a:spcBef>
              <a:buFontTx/>
              <a:buNone/>
            </a:pPr>
            <a:r>
              <a:rPr lang="en-IN" sz="3600" b="1" dirty="0">
                <a:solidFill>
                  <a:prstClr val="white"/>
                </a:solidFill>
                <a:latin typeface="Posterama" panose="020B0504020200020000" pitchFamily="34" charset="0"/>
                <a:ea typeface="微软雅黑"/>
                <a:cs typeface="Posterama" panose="020B0504020200020000" pitchFamily="34" charset="0"/>
              </a:rPr>
              <a:t>1</a:t>
            </a:r>
          </a:p>
        </p:txBody>
      </p:sp>
      <p:sp>
        <p:nvSpPr>
          <p:cNvPr id="34" name="TextBox 33">
            <a:extLst>
              <a:ext uri="{FF2B5EF4-FFF2-40B4-BE49-F238E27FC236}">
                <a16:creationId xmlns:a16="http://schemas.microsoft.com/office/drawing/2014/main" id="{810D7F3C-B987-139D-3FB3-EE8BEF62143C}"/>
              </a:ext>
            </a:extLst>
          </p:cNvPr>
          <p:cNvSpPr txBox="1"/>
          <p:nvPr/>
        </p:nvSpPr>
        <p:spPr>
          <a:xfrm>
            <a:off x="4431038" y="2358610"/>
            <a:ext cx="850779" cy="646331"/>
          </a:xfrm>
          <a:prstGeom prst="rect">
            <a:avLst/>
          </a:prstGeom>
        </p:spPr>
        <p:txBody>
          <a:bodyPr wrap="square" rtlCol="0">
            <a:spAutoFit/>
          </a:bodyPr>
          <a:lstStyle/>
          <a:p>
            <a:pPr marL="0" indent="0" algn="ctr">
              <a:lnSpc>
                <a:spcPct val="100000"/>
              </a:lnSpc>
              <a:spcBef>
                <a:spcPts val="0"/>
              </a:spcBef>
              <a:buFontTx/>
              <a:buNone/>
            </a:pPr>
            <a:r>
              <a:rPr lang="en-IN" sz="3600" b="1" dirty="0">
                <a:solidFill>
                  <a:prstClr val="white"/>
                </a:solidFill>
                <a:latin typeface="Posterama" panose="020B0504020200020000" pitchFamily="34" charset="0"/>
                <a:ea typeface="微软雅黑"/>
                <a:cs typeface="Posterama" panose="020B0504020200020000" pitchFamily="34" charset="0"/>
              </a:rPr>
              <a:t>2</a:t>
            </a:r>
          </a:p>
        </p:txBody>
      </p:sp>
      <p:sp>
        <p:nvSpPr>
          <p:cNvPr id="35" name="TextBox 34">
            <a:extLst>
              <a:ext uri="{FF2B5EF4-FFF2-40B4-BE49-F238E27FC236}">
                <a16:creationId xmlns:a16="http://schemas.microsoft.com/office/drawing/2014/main" id="{0BA5274C-16DB-B418-99D6-5B86648C46F3}"/>
              </a:ext>
            </a:extLst>
          </p:cNvPr>
          <p:cNvSpPr txBox="1"/>
          <p:nvPr/>
        </p:nvSpPr>
        <p:spPr>
          <a:xfrm>
            <a:off x="4457157" y="3918945"/>
            <a:ext cx="850779" cy="646331"/>
          </a:xfrm>
          <a:prstGeom prst="rect">
            <a:avLst/>
          </a:prstGeom>
        </p:spPr>
        <p:txBody>
          <a:bodyPr wrap="square" rtlCol="0">
            <a:spAutoFit/>
          </a:bodyPr>
          <a:lstStyle/>
          <a:p>
            <a:pPr marL="0" indent="0" algn="ctr">
              <a:lnSpc>
                <a:spcPct val="100000"/>
              </a:lnSpc>
              <a:spcBef>
                <a:spcPts val="0"/>
              </a:spcBef>
              <a:buFontTx/>
              <a:buNone/>
            </a:pPr>
            <a:r>
              <a:rPr lang="en-IN" sz="3600" b="1" dirty="0">
                <a:solidFill>
                  <a:prstClr val="white"/>
                </a:solidFill>
                <a:latin typeface="Posterama" panose="020B0504020200020000" pitchFamily="34" charset="0"/>
                <a:ea typeface="微软雅黑"/>
                <a:cs typeface="Posterama" panose="020B0504020200020000" pitchFamily="34" charset="0"/>
              </a:rPr>
              <a:t>3</a:t>
            </a:r>
          </a:p>
        </p:txBody>
      </p:sp>
      <p:sp>
        <p:nvSpPr>
          <p:cNvPr id="36" name="TextBox 35">
            <a:extLst>
              <a:ext uri="{FF2B5EF4-FFF2-40B4-BE49-F238E27FC236}">
                <a16:creationId xmlns:a16="http://schemas.microsoft.com/office/drawing/2014/main" id="{5B6DB525-4199-39A0-B62B-C1BBE808636E}"/>
              </a:ext>
            </a:extLst>
          </p:cNvPr>
          <p:cNvSpPr txBox="1"/>
          <p:nvPr/>
        </p:nvSpPr>
        <p:spPr>
          <a:xfrm>
            <a:off x="4424599" y="5500078"/>
            <a:ext cx="850779" cy="646331"/>
          </a:xfrm>
          <a:prstGeom prst="rect">
            <a:avLst/>
          </a:prstGeom>
        </p:spPr>
        <p:txBody>
          <a:bodyPr wrap="square" rtlCol="0">
            <a:spAutoFit/>
          </a:bodyPr>
          <a:lstStyle/>
          <a:p>
            <a:pPr marL="0" indent="0" algn="ctr">
              <a:lnSpc>
                <a:spcPct val="100000"/>
              </a:lnSpc>
              <a:spcBef>
                <a:spcPts val="0"/>
              </a:spcBef>
              <a:buFontTx/>
              <a:buNone/>
            </a:pPr>
            <a:r>
              <a:rPr lang="en-IN" sz="3600" b="1" dirty="0">
                <a:solidFill>
                  <a:prstClr val="white"/>
                </a:solidFill>
                <a:latin typeface="Posterama" panose="020B0504020200020000" pitchFamily="34" charset="0"/>
                <a:ea typeface="微软雅黑"/>
                <a:cs typeface="Posterama" panose="020B0504020200020000" pitchFamily="34" charset="0"/>
              </a:rPr>
              <a:t>4</a:t>
            </a:r>
          </a:p>
        </p:txBody>
      </p:sp>
      <p:sp>
        <p:nvSpPr>
          <p:cNvPr id="49" name="TextBox 48">
            <a:extLst>
              <a:ext uri="{FF2B5EF4-FFF2-40B4-BE49-F238E27FC236}">
                <a16:creationId xmlns:a16="http://schemas.microsoft.com/office/drawing/2014/main" id="{1791BB4B-105E-B5AF-3163-CA3D31E5F4E2}"/>
              </a:ext>
            </a:extLst>
          </p:cNvPr>
          <p:cNvSpPr txBox="1"/>
          <p:nvPr/>
        </p:nvSpPr>
        <p:spPr>
          <a:xfrm>
            <a:off x="8272355" y="790615"/>
            <a:ext cx="850779" cy="646331"/>
          </a:xfrm>
          <a:prstGeom prst="rect">
            <a:avLst/>
          </a:prstGeom>
        </p:spPr>
        <p:txBody>
          <a:bodyPr wrap="square" rtlCol="0">
            <a:spAutoFit/>
          </a:bodyPr>
          <a:lstStyle/>
          <a:p>
            <a:pPr marL="0" indent="0" algn="ctr">
              <a:lnSpc>
                <a:spcPct val="100000"/>
              </a:lnSpc>
              <a:spcBef>
                <a:spcPts val="0"/>
              </a:spcBef>
              <a:buFontTx/>
              <a:buNone/>
            </a:pPr>
            <a:r>
              <a:rPr lang="en-IN" sz="3600" b="1" dirty="0">
                <a:solidFill>
                  <a:prstClr val="white"/>
                </a:solidFill>
                <a:latin typeface="Posterama" panose="020B0504020200020000" pitchFamily="34" charset="0"/>
                <a:ea typeface="微软雅黑"/>
                <a:cs typeface="Posterama" panose="020B0504020200020000" pitchFamily="34" charset="0"/>
              </a:rPr>
              <a:t>5</a:t>
            </a:r>
          </a:p>
        </p:txBody>
      </p:sp>
      <p:sp>
        <p:nvSpPr>
          <p:cNvPr id="50" name="TextBox 49">
            <a:extLst>
              <a:ext uri="{FF2B5EF4-FFF2-40B4-BE49-F238E27FC236}">
                <a16:creationId xmlns:a16="http://schemas.microsoft.com/office/drawing/2014/main" id="{F97479BD-5249-226B-F5EA-CF5C393C2DAB}"/>
              </a:ext>
            </a:extLst>
          </p:cNvPr>
          <p:cNvSpPr txBox="1"/>
          <p:nvPr/>
        </p:nvSpPr>
        <p:spPr>
          <a:xfrm>
            <a:off x="8258481" y="2323325"/>
            <a:ext cx="850779" cy="646331"/>
          </a:xfrm>
          <a:prstGeom prst="rect">
            <a:avLst/>
          </a:prstGeom>
        </p:spPr>
        <p:txBody>
          <a:bodyPr wrap="square" rtlCol="0">
            <a:spAutoFit/>
          </a:bodyPr>
          <a:lstStyle/>
          <a:p>
            <a:pPr marL="0" indent="0" algn="ctr">
              <a:lnSpc>
                <a:spcPct val="100000"/>
              </a:lnSpc>
              <a:spcBef>
                <a:spcPts val="0"/>
              </a:spcBef>
              <a:buFontTx/>
              <a:buNone/>
            </a:pPr>
            <a:r>
              <a:rPr lang="en-IN" sz="3600" b="1" dirty="0">
                <a:solidFill>
                  <a:prstClr val="white"/>
                </a:solidFill>
                <a:latin typeface="Posterama" panose="020B0504020200020000" pitchFamily="34" charset="0"/>
                <a:ea typeface="微软雅黑"/>
                <a:cs typeface="Posterama" panose="020B0504020200020000" pitchFamily="34" charset="0"/>
              </a:rPr>
              <a:t>6</a:t>
            </a:r>
          </a:p>
        </p:txBody>
      </p:sp>
      <p:sp>
        <p:nvSpPr>
          <p:cNvPr id="52" name="TextBox 51">
            <a:extLst>
              <a:ext uri="{FF2B5EF4-FFF2-40B4-BE49-F238E27FC236}">
                <a16:creationId xmlns:a16="http://schemas.microsoft.com/office/drawing/2014/main" id="{98B94481-745A-34C0-11C9-C544D0AFD8D5}"/>
              </a:ext>
            </a:extLst>
          </p:cNvPr>
          <p:cNvSpPr txBox="1"/>
          <p:nvPr/>
        </p:nvSpPr>
        <p:spPr>
          <a:xfrm>
            <a:off x="8299195" y="4032897"/>
            <a:ext cx="850779" cy="646331"/>
          </a:xfrm>
          <a:prstGeom prst="rect">
            <a:avLst/>
          </a:prstGeom>
        </p:spPr>
        <p:txBody>
          <a:bodyPr wrap="square" rtlCol="0">
            <a:spAutoFit/>
          </a:bodyPr>
          <a:lstStyle/>
          <a:p>
            <a:pPr marL="0" indent="0" algn="ctr">
              <a:lnSpc>
                <a:spcPct val="100000"/>
              </a:lnSpc>
              <a:spcBef>
                <a:spcPts val="0"/>
              </a:spcBef>
              <a:buFontTx/>
              <a:buNone/>
            </a:pPr>
            <a:r>
              <a:rPr lang="en-IN" sz="3600" b="1" dirty="0">
                <a:solidFill>
                  <a:prstClr val="white"/>
                </a:solidFill>
                <a:latin typeface="Posterama" panose="020B0504020200020000" pitchFamily="34" charset="0"/>
                <a:ea typeface="微软雅黑"/>
                <a:cs typeface="Posterama" panose="020B0504020200020000" pitchFamily="34" charset="0"/>
              </a:rPr>
              <a:t>7</a:t>
            </a:r>
          </a:p>
        </p:txBody>
      </p:sp>
      <p:sp>
        <p:nvSpPr>
          <p:cNvPr id="2" name="Rectangle 1">
            <a:extLst>
              <a:ext uri="{FF2B5EF4-FFF2-40B4-BE49-F238E27FC236}">
                <a16:creationId xmlns:a16="http://schemas.microsoft.com/office/drawing/2014/main" id="{D8F03857-224A-F526-786B-6A54EC57A042}"/>
              </a:ext>
            </a:extLst>
          </p:cNvPr>
          <p:cNvSpPr/>
          <p:nvPr/>
        </p:nvSpPr>
        <p:spPr>
          <a:xfrm>
            <a:off x="152" y="0"/>
            <a:ext cx="228600" cy="6858000"/>
          </a:xfrm>
          <a:prstGeom prst="rect">
            <a:avLst/>
          </a:prstGeom>
          <a:solidFill>
            <a:srgbClr val="D2141E"/>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Tree>
    <p:extLst>
      <p:ext uri="{BB962C8B-B14F-4D97-AF65-F5344CB8AC3E}">
        <p14:creationId xmlns:p14="http://schemas.microsoft.com/office/powerpoint/2010/main" val="3157109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581024" y="238075"/>
            <a:ext cx="10889796" cy="680542"/>
          </a:xfrm>
        </p:spPr>
        <p:txBody>
          <a:bodyPr/>
          <a:lstStyle/>
          <a:p>
            <a:r>
              <a:rPr lang="en-US" dirty="0"/>
              <a:t>Calculated Columns</a:t>
            </a:r>
          </a:p>
        </p:txBody>
      </p:sp>
      <p:graphicFrame>
        <p:nvGraphicFramePr>
          <p:cNvPr id="8" name="Table 8">
            <a:extLst>
              <a:ext uri="{FF2B5EF4-FFF2-40B4-BE49-F238E27FC236}">
                <a16:creationId xmlns:a16="http://schemas.microsoft.com/office/drawing/2014/main" id="{7E5E2BDF-8ED2-40CB-B07C-B015E1420EA8}"/>
              </a:ext>
            </a:extLst>
          </p:cNvPr>
          <p:cNvGraphicFramePr>
            <a:graphicFrameLocks noGrp="1"/>
          </p:cNvGraphicFramePr>
          <p:nvPr>
            <p:ph type="tbl" sz="quarter" idx="27"/>
            <p:extLst>
              <p:ext uri="{D42A27DB-BD31-4B8C-83A1-F6EECF244321}">
                <p14:modId xmlns:p14="http://schemas.microsoft.com/office/powerpoint/2010/main" val="4287274437"/>
              </p:ext>
            </p:extLst>
          </p:nvPr>
        </p:nvGraphicFramePr>
        <p:xfrm>
          <a:off x="581024" y="990720"/>
          <a:ext cx="9396096" cy="5205881"/>
        </p:xfrm>
        <a:graphic>
          <a:graphicData uri="http://schemas.openxmlformats.org/drawingml/2006/table">
            <a:tbl>
              <a:tblPr firstRow="1" bandRow="1">
                <a:tableStyleId>{C4B1156A-380E-4F78-BDF5-A606A8083BF9}</a:tableStyleId>
              </a:tblPr>
              <a:tblGrid>
                <a:gridCol w="3132032">
                  <a:extLst>
                    <a:ext uri="{9D8B030D-6E8A-4147-A177-3AD203B41FA5}">
                      <a16:colId xmlns:a16="http://schemas.microsoft.com/office/drawing/2014/main" val="1457000769"/>
                    </a:ext>
                  </a:extLst>
                </a:gridCol>
                <a:gridCol w="3132032">
                  <a:extLst>
                    <a:ext uri="{9D8B030D-6E8A-4147-A177-3AD203B41FA5}">
                      <a16:colId xmlns:a16="http://schemas.microsoft.com/office/drawing/2014/main" val="1939741220"/>
                    </a:ext>
                  </a:extLst>
                </a:gridCol>
                <a:gridCol w="3132032">
                  <a:extLst>
                    <a:ext uri="{9D8B030D-6E8A-4147-A177-3AD203B41FA5}">
                      <a16:colId xmlns:a16="http://schemas.microsoft.com/office/drawing/2014/main" val="1728182267"/>
                    </a:ext>
                  </a:extLst>
                </a:gridCol>
              </a:tblGrid>
              <a:tr h="434120">
                <a:tc>
                  <a:txBody>
                    <a:bodyPr/>
                    <a:lstStyle/>
                    <a:p>
                      <a:pPr algn="l"/>
                      <a:r>
                        <a:rPr lang="en-US" sz="1800" b="1" kern="1200" dirty="0">
                          <a:solidFill>
                            <a:schemeClr val="bg1"/>
                          </a:solidFill>
                          <a:latin typeface="+mn-lt"/>
                          <a:ea typeface="+mn-ea"/>
                          <a:cs typeface="+mn-cs"/>
                        </a:rPr>
                        <a:t>Columns</a:t>
                      </a:r>
                    </a:p>
                  </a:txBody>
                  <a:tcPr anchor="ctr">
                    <a:solidFill>
                      <a:srgbClr val="EB0005"/>
                    </a:solidFill>
                  </a:tcPr>
                </a:tc>
                <a:tc>
                  <a:txBody>
                    <a:bodyPr/>
                    <a:lstStyle/>
                    <a:p>
                      <a:pPr algn="l"/>
                      <a:r>
                        <a:rPr lang="en-US" b="1" i="0" dirty="0">
                          <a:solidFill>
                            <a:schemeClr val="bg1"/>
                          </a:solidFill>
                          <a:latin typeface="+mn-lt"/>
                          <a:cs typeface="Posterama" panose="020B0504020200020000" pitchFamily="34" charset="0"/>
                        </a:rPr>
                        <a:t>Purpose</a:t>
                      </a:r>
                    </a:p>
                  </a:txBody>
                  <a:tcPr anchor="ctr">
                    <a:solidFill>
                      <a:srgbClr val="EB0005"/>
                    </a:solidFill>
                  </a:tcPr>
                </a:tc>
                <a:tc>
                  <a:txBody>
                    <a:bodyPr/>
                    <a:lstStyle/>
                    <a:p>
                      <a:pPr algn="l"/>
                      <a:r>
                        <a:rPr lang="en-US" b="1" i="0" dirty="0">
                          <a:solidFill>
                            <a:schemeClr val="bg1"/>
                          </a:solidFill>
                          <a:latin typeface="+mn-lt"/>
                          <a:cs typeface="Posterama" panose="020B0504020200020000" pitchFamily="34" charset="0"/>
                        </a:rPr>
                        <a:t>Formula</a:t>
                      </a:r>
                    </a:p>
                  </a:txBody>
                  <a:tcPr anchor="ctr">
                    <a:solidFill>
                      <a:srgbClr val="EB0005"/>
                    </a:solidFill>
                  </a:tcPr>
                </a:tc>
                <a:extLst>
                  <a:ext uri="{0D108BD9-81ED-4DB2-BD59-A6C34878D82A}">
                    <a16:rowId xmlns:a16="http://schemas.microsoft.com/office/drawing/2014/main" val="704343578"/>
                  </a:ext>
                </a:extLst>
              </a:tr>
              <a:tr h="584747">
                <a:tc>
                  <a:txBody>
                    <a:bodyPr/>
                    <a:lstStyle/>
                    <a:p>
                      <a:r>
                        <a:rPr lang="en-IN" b="1" dirty="0"/>
                        <a:t>Content_Age</a:t>
                      </a:r>
                      <a:endParaRPr lang="en-IN"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old the title is?</a:t>
                      </a:r>
                    </a:p>
                  </a:txBody>
                  <a:tcPr anchor="ctr"/>
                </a:tc>
                <a:tc>
                  <a:txBody>
                    <a:bodyPr/>
                    <a:lstStyle/>
                    <a:p>
                      <a:r>
                        <a:rPr lang="en-IN" sz="1200" dirty="0">
                          <a:solidFill>
                            <a:schemeClr val="tx2">
                              <a:lumMod val="75000"/>
                              <a:lumOff val="25000"/>
                            </a:schemeClr>
                          </a:solidFill>
                        </a:rPr>
                        <a:t>=2026-[@release_year]</a:t>
                      </a:r>
                    </a:p>
                  </a:txBody>
                  <a:tcPr/>
                </a:tc>
                <a:extLst>
                  <a:ext uri="{0D108BD9-81ED-4DB2-BD59-A6C34878D82A}">
                    <a16:rowId xmlns:a16="http://schemas.microsoft.com/office/drawing/2014/main" val="4112558055"/>
                  </a:ext>
                </a:extLst>
              </a:tr>
              <a:tr h="584747">
                <a:tc>
                  <a:txBody>
                    <a:bodyPr/>
                    <a:lstStyle/>
                    <a:p>
                      <a:r>
                        <a:rPr lang="en-IN" b="1" dirty="0"/>
                        <a:t>Release_Decade</a:t>
                      </a:r>
                      <a:endParaRPr lang="en-IN" dirty="0"/>
                    </a:p>
                  </a:txBody>
                  <a:tcPr anchor="ctr"/>
                </a:tc>
                <a:tc>
                  <a:txBody>
                    <a:bodyPr/>
                    <a:lstStyle/>
                    <a:p>
                      <a:r>
                        <a:rPr lang="en-IN" dirty="0"/>
                        <a:t>Groups titles by decade</a:t>
                      </a:r>
                    </a:p>
                  </a:txBody>
                  <a:tcPr anchor="ctr"/>
                </a:tc>
                <a:tc>
                  <a:txBody>
                    <a:bodyPr/>
                    <a:lstStyle/>
                    <a:p>
                      <a:r>
                        <a:rPr lang="en-IN" sz="1200" dirty="0">
                          <a:solidFill>
                            <a:schemeClr val="tx2">
                              <a:lumMod val="75000"/>
                              <a:lumOff val="25000"/>
                            </a:schemeClr>
                          </a:solidFill>
                        </a:rPr>
                        <a:t>=INT([@release_year]/10)*10&amp;"s"</a:t>
                      </a:r>
                    </a:p>
                  </a:txBody>
                  <a:tcPr anchor="ctr"/>
                </a:tc>
                <a:extLst>
                  <a:ext uri="{0D108BD9-81ED-4DB2-BD59-A6C34878D82A}">
                    <a16:rowId xmlns:a16="http://schemas.microsoft.com/office/drawing/2014/main" val="322234691"/>
                  </a:ext>
                </a:extLst>
              </a:tr>
              <a:tr h="584747">
                <a:tc>
                  <a:txBody>
                    <a:bodyPr/>
                    <a:lstStyle/>
                    <a:p>
                      <a:r>
                        <a:rPr lang="en-IN" b="1" dirty="0" err="1"/>
                        <a:t>Runtime_Category</a:t>
                      </a:r>
                      <a:endParaRPr lang="en-IN" dirty="0"/>
                    </a:p>
                  </a:txBody>
                  <a:tcPr anchor="ctr"/>
                </a:tc>
                <a:tc>
                  <a:txBody>
                    <a:bodyPr/>
                    <a:lstStyle/>
                    <a:p>
                      <a:r>
                        <a:rPr lang="en-IN" dirty="0"/>
                        <a:t>Groups content by duration</a:t>
                      </a:r>
                    </a:p>
                  </a:txBody>
                  <a:tcPr anchor="ctr"/>
                </a:tc>
                <a:tc>
                  <a:txBody>
                    <a:bodyPr/>
                    <a:lstStyle/>
                    <a:p>
                      <a:r>
                        <a:rPr lang="en-IN" sz="1200" dirty="0">
                          <a:solidFill>
                            <a:schemeClr val="tx2">
                              <a:lumMod val="75000"/>
                              <a:lumOff val="25000"/>
                            </a:schemeClr>
                          </a:solidFill>
                        </a:rPr>
                        <a:t>=IF([@runtime]&lt;60,"Short",IF([@runtime]&lt;=120,"Medium","Long"))</a:t>
                      </a:r>
                    </a:p>
                  </a:txBody>
                  <a:tcPr anchor="ctr"/>
                </a:tc>
                <a:extLst>
                  <a:ext uri="{0D108BD9-81ED-4DB2-BD59-A6C34878D82A}">
                    <a16:rowId xmlns:a16="http://schemas.microsoft.com/office/drawing/2014/main" val="3315783827"/>
                  </a:ext>
                </a:extLst>
              </a:tr>
              <a:tr h="434120">
                <a:tc>
                  <a:txBody>
                    <a:bodyPr/>
                    <a:lstStyle/>
                    <a:p>
                      <a:r>
                        <a:rPr lang="en-IN" b="1" dirty="0" err="1"/>
                        <a:t>Rating_Category</a:t>
                      </a:r>
                      <a:endParaRPr lang="en-IN" dirty="0"/>
                    </a:p>
                  </a:txBody>
                  <a:tcPr anchor="ctr"/>
                </a:tc>
                <a:tc>
                  <a:txBody>
                    <a:bodyPr/>
                    <a:lstStyle/>
                    <a:p>
                      <a:r>
                        <a:rPr lang="en-IN" dirty="0"/>
                        <a:t>Groups IMDb ratings</a:t>
                      </a:r>
                    </a:p>
                  </a:txBody>
                  <a:tcPr anchor="ctr"/>
                </a:tc>
                <a:tc>
                  <a:txBody>
                    <a:bodyPr/>
                    <a:lstStyle/>
                    <a:p>
                      <a:r>
                        <a:rPr lang="en-IN" sz="1200" dirty="0">
                          <a:solidFill>
                            <a:schemeClr val="tx2">
                              <a:lumMod val="75000"/>
                              <a:lumOff val="25000"/>
                            </a:schemeClr>
                          </a:solidFill>
                        </a:rPr>
                        <a:t>=IF([@imdb_rating]&lt;5,"Poor",IF([@imdb_rating]&lt;7,"Average",IF([@imdb_rating]&lt;8,"Good","Excellent")))</a:t>
                      </a:r>
                    </a:p>
                  </a:txBody>
                  <a:tcPr anchor="ctr"/>
                </a:tc>
                <a:extLst>
                  <a:ext uri="{0D108BD9-81ED-4DB2-BD59-A6C34878D82A}">
                    <a16:rowId xmlns:a16="http://schemas.microsoft.com/office/drawing/2014/main" val="707436735"/>
                  </a:ext>
                </a:extLst>
              </a:tr>
              <a:tr h="434120">
                <a:tc>
                  <a:txBody>
                    <a:bodyPr/>
                    <a:lstStyle/>
                    <a:p>
                      <a:r>
                        <a:rPr lang="en-IN" b="1" dirty="0" err="1"/>
                        <a:t>Vote_Category</a:t>
                      </a:r>
                      <a:endParaRPr lang="en-IN" dirty="0"/>
                    </a:p>
                  </a:txBody>
                  <a:tcPr anchor="ctr"/>
                </a:tc>
                <a:tc>
                  <a:txBody>
                    <a:bodyPr/>
                    <a:lstStyle/>
                    <a:p>
                      <a:r>
                        <a:rPr lang="en-US" dirty="0"/>
                        <a:t>Groups titles by IMDb votes</a:t>
                      </a:r>
                    </a:p>
                  </a:txBody>
                  <a:tcPr anchor="ctr"/>
                </a:tc>
                <a:tc>
                  <a:txBody>
                    <a:bodyPr/>
                    <a:lstStyle/>
                    <a:p>
                      <a:r>
                        <a:rPr lang="en-US" sz="1200" dirty="0">
                          <a:solidFill>
                            <a:schemeClr val="tx2">
                              <a:lumMod val="75000"/>
                              <a:lumOff val="25000"/>
                            </a:schemeClr>
                          </a:solidFill>
                        </a:rPr>
                        <a:t>=IF([@imdb_votes]&lt;10000,"Low </a:t>
                      </a:r>
                      <a:r>
                        <a:rPr lang="en-US" sz="1200" dirty="0" err="1">
                          <a:solidFill>
                            <a:schemeClr val="tx2">
                              <a:lumMod val="75000"/>
                              <a:lumOff val="25000"/>
                            </a:schemeClr>
                          </a:solidFill>
                        </a:rPr>
                        <a:t>Votes",IF</a:t>
                      </a:r>
                      <a:r>
                        <a:rPr lang="en-US" sz="1200" dirty="0">
                          <a:solidFill>
                            <a:schemeClr val="tx2">
                              <a:lumMod val="75000"/>
                              <a:lumOff val="25000"/>
                            </a:schemeClr>
                          </a:solidFill>
                        </a:rPr>
                        <a:t>([@imdb_votes]&lt;=100000,"Medium </a:t>
                      </a:r>
                      <a:r>
                        <a:rPr lang="en-US" sz="1200" dirty="0" err="1">
                          <a:solidFill>
                            <a:schemeClr val="tx2">
                              <a:lumMod val="75000"/>
                              <a:lumOff val="25000"/>
                            </a:schemeClr>
                          </a:solidFill>
                        </a:rPr>
                        <a:t>Votes","High</a:t>
                      </a:r>
                      <a:r>
                        <a:rPr lang="en-US" sz="1200" dirty="0">
                          <a:solidFill>
                            <a:schemeClr val="tx2">
                              <a:lumMod val="75000"/>
                              <a:lumOff val="25000"/>
                            </a:schemeClr>
                          </a:solidFill>
                        </a:rPr>
                        <a:t> Votes"))</a:t>
                      </a:r>
                      <a:endParaRPr lang="en-IN" sz="1200" dirty="0">
                        <a:solidFill>
                          <a:schemeClr val="tx2">
                            <a:lumMod val="75000"/>
                            <a:lumOff val="25000"/>
                          </a:schemeClr>
                        </a:solidFill>
                      </a:endParaRPr>
                    </a:p>
                  </a:txBody>
                  <a:tcPr anchor="ctr"/>
                </a:tc>
                <a:extLst>
                  <a:ext uri="{0D108BD9-81ED-4DB2-BD59-A6C34878D82A}">
                    <a16:rowId xmlns:a16="http://schemas.microsoft.com/office/drawing/2014/main" val="2008827937"/>
                  </a:ext>
                </a:extLst>
              </a:tr>
              <a:tr h="434120">
                <a:tc>
                  <a:txBody>
                    <a:bodyPr/>
                    <a:lstStyle/>
                    <a:p>
                      <a:r>
                        <a:rPr lang="en-IN" b="1" dirty="0" err="1"/>
                        <a:t>Tmdb_Rating_Category</a:t>
                      </a:r>
                      <a:endParaRPr lang="en-IN" dirty="0"/>
                    </a:p>
                  </a:txBody>
                  <a:tcPr anchor="ctr"/>
                </a:tc>
                <a:tc>
                  <a:txBody>
                    <a:bodyPr/>
                    <a:lstStyle/>
                    <a:p>
                      <a:r>
                        <a:rPr lang="en-IN" dirty="0"/>
                        <a:t>Groups TMDB ratings</a:t>
                      </a:r>
                    </a:p>
                  </a:txBody>
                  <a:tcPr anchor="ctr"/>
                </a:tc>
                <a:tc>
                  <a:txBody>
                    <a:bodyPr/>
                    <a:lstStyle/>
                    <a:p>
                      <a:r>
                        <a:rPr lang="en-US" sz="1200" dirty="0">
                          <a:solidFill>
                            <a:schemeClr val="tx2">
                              <a:lumMod val="75000"/>
                              <a:lumOff val="25000"/>
                            </a:schemeClr>
                          </a:solidFill>
                        </a:rPr>
                        <a:t>=IF(I2="","",IF(I2&gt;=8,"Excellent",IF(I2&gt;=7,"Good",IF(I2&gt;=6,"Average","Low"))))</a:t>
                      </a:r>
                      <a:endParaRPr lang="en-IN" sz="1200" dirty="0">
                        <a:solidFill>
                          <a:schemeClr val="tx2">
                            <a:lumMod val="75000"/>
                            <a:lumOff val="25000"/>
                          </a:schemeClr>
                        </a:solidFill>
                      </a:endParaRPr>
                    </a:p>
                  </a:txBody>
                  <a:tcPr anchor="ctr"/>
                </a:tc>
                <a:extLst>
                  <a:ext uri="{0D108BD9-81ED-4DB2-BD59-A6C34878D82A}">
                    <a16:rowId xmlns:a16="http://schemas.microsoft.com/office/drawing/2014/main" val="71911179"/>
                  </a:ext>
                </a:extLst>
              </a:tr>
              <a:tr h="434120">
                <a:tc>
                  <a:txBody>
                    <a:bodyPr/>
                    <a:lstStyle/>
                    <a:p>
                      <a:r>
                        <a:rPr lang="en-IN" b="1" dirty="0" err="1"/>
                        <a:t>Popularity_Category</a:t>
                      </a:r>
                      <a:endParaRPr lang="en-IN" dirty="0"/>
                    </a:p>
                  </a:txBody>
                  <a:tcPr anchor="ctr"/>
                </a:tc>
                <a:tc>
                  <a:txBody>
                    <a:bodyPr/>
                    <a:lstStyle/>
                    <a:p>
                      <a:r>
                        <a:rPr lang="en-IN" dirty="0"/>
                        <a:t>Groups TMDB popularity</a:t>
                      </a:r>
                    </a:p>
                  </a:txBody>
                  <a:tcPr anchor="ctr"/>
                </a:tc>
                <a:tc>
                  <a:txBody>
                    <a:bodyPr/>
                    <a:lstStyle/>
                    <a:p>
                      <a:r>
                        <a:rPr lang="en-US" sz="1200" dirty="0">
                          <a:solidFill>
                            <a:schemeClr val="tx2">
                              <a:lumMod val="75000"/>
                              <a:lumOff val="25000"/>
                            </a:schemeClr>
                          </a:solidFill>
                        </a:rPr>
                        <a:t>=IF(J2="","",IF(J2&gt;=100,"Very </a:t>
                      </a:r>
                      <a:r>
                        <a:rPr lang="en-US" sz="1200" dirty="0" err="1">
                          <a:solidFill>
                            <a:schemeClr val="tx2">
                              <a:lumMod val="75000"/>
                              <a:lumOff val="25000"/>
                            </a:schemeClr>
                          </a:solidFill>
                        </a:rPr>
                        <a:t>High",IF</a:t>
                      </a:r>
                      <a:r>
                        <a:rPr lang="en-US" sz="1200" dirty="0">
                          <a:solidFill>
                            <a:schemeClr val="tx2">
                              <a:lumMod val="75000"/>
                              <a:lumOff val="25000"/>
                            </a:schemeClr>
                          </a:solidFill>
                        </a:rPr>
                        <a:t>(J2&gt;=50,"High",IF(J2&gt;=20,"Medium","Low"))))</a:t>
                      </a:r>
                      <a:endParaRPr lang="en-IN" sz="1200" dirty="0">
                        <a:solidFill>
                          <a:schemeClr val="tx2">
                            <a:lumMod val="75000"/>
                            <a:lumOff val="25000"/>
                          </a:schemeClr>
                        </a:solidFill>
                      </a:endParaRPr>
                    </a:p>
                  </a:txBody>
                  <a:tcPr anchor="ctr"/>
                </a:tc>
                <a:extLst>
                  <a:ext uri="{0D108BD9-81ED-4DB2-BD59-A6C34878D82A}">
                    <a16:rowId xmlns:a16="http://schemas.microsoft.com/office/drawing/2014/main" val="2763616492"/>
                  </a:ext>
                </a:extLst>
              </a:tr>
              <a:tr h="434120">
                <a:tc>
                  <a:txBody>
                    <a:bodyPr/>
                    <a:lstStyle/>
                    <a:p>
                      <a:r>
                        <a:rPr lang="en-IN" b="1" dirty="0" err="1"/>
                        <a:t>Rating_Gap</a:t>
                      </a:r>
                      <a:endParaRPr lang="en-IN" dirty="0"/>
                    </a:p>
                  </a:txBody>
                  <a:tcPr anchor="ctr"/>
                </a:tc>
                <a:tc>
                  <a:txBody>
                    <a:bodyPr/>
                    <a:lstStyle/>
                    <a:p>
                      <a:r>
                        <a:rPr lang="en-US" dirty="0"/>
                        <a:t>Difference between IMDb and TMDB ratings</a:t>
                      </a:r>
                    </a:p>
                  </a:txBody>
                  <a:tcPr anchor="ctr"/>
                </a:tc>
                <a:tc>
                  <a:txBody>
                    <a:bodyPr/>
                    <a:lstStyle/>
                    <a:p>
                      <a:pPr algn="l"/>
                      <a:r>
                        <a:rPr lang="en-US" sz="1200" b="0" i="0" dirty="0">
                          <a:solidFill>
                            <a:schemeClr val="tx2">
                              <a:lumMod val="75000"/>
                              <a:lumOff val="25000"/>
                            </a:schemeClr>
                          </a:solidFill>
                          <a:latin typeface="Posterama" panose="020B0504020200020000" pitchFamily="34" charset="0"/>
                          <a:cs typeface="Posterama" panose="020B0504020200020000" pitchFamily="34" charset="0"/>
                        </a:rPr>
                        <a:t>=[@imdb_rating]-[@tmdb_rating]</a:t>
                      </a:r>
                    </a:p>
                  </a:txBody>
                  <a:tcPr anchor="ctr"/>
                </a:tc>
                <a:extLst>
                  <a:ext uri="{0D108BD9-81ED-4DB2-BD59-A6C34878D82A}">
                    <a16:rowId xmlns:a16="http://schemas.microsoft.com/office/drawing/2014/main" val="1082316392"/>
                  </a:ext>
                </a:extLst>
              </a:tr>
            </a:tbl>
          </a:graphicData>
        </a:graphic>
      </p:graphicFrame>
      <p:sp>
        <p:nvSpPr>
          <p:cNvPr id="5" name="Footer Placeholder 4">
            <a:extLst>
              <a:ext uri="{FF2B5EF4-FFF2-40B4-BE49-F238E27FC236}">
                <a16:creationId xmlns:a16="http://schemas.microsoft.com/office/drawing/2014/main" id="{6D18E7F7-120D-E343-B41C-E8DF89FC0F49}"/>
              </a:ext>
            </a:extLst>
          </p:cNvPr>
          <p:cNvSpPr>
            <a:spLocks noGrp="1"/>
          </p:cNvSpPr>
          <p:nvPr>
            <p:ph type="ftr" sz="quarter" idx="28"/>
          </p:nvPr>
        </p:nvSpPr>
        <p:spPr>
          <a:xfrm>
            <a:off x="539239" y="6400482"/>
            <a:ext cx="4114800" cy="365125"/>
          </a:xfrm>
        </p:spPr>
        <p:txBody>
          <a:bodyPr/>
          <a:lstStyle/>
          <a:p>
            <a:r>
              <a:rPr lang="en-IN" dirty="0"/>
              <a:t>Netflix Content Analytics | Excel Dashboard</a:t>
            </a:r>
            <a:endParaRPr lang="en-US" dirty="0"/>
          </a:p>
        </p:txBody>
      </p:sp>
      <p:sp>
        <p:nvSpPr>
          <p:cNvPr id="7" name="Slide Number Placeholder 6">
            <a:extLst>
              <a:ext uri="{FF2B5EF4-FFF2-40B4-BE49-F238E27FC236}">
                <a16:creationId xmlns:a16="http://schemas.microsoft.com/office/drawing/2014/main" id="{8EA25C86-7BE3-4BC6-C0B8-7F7D7C3EC286}"/>
              </a:ext>
            </a:extLst>
          </p:cNvPr>
          <p:cNvSpPr>
            <a:spLocks noGrp="1"/>
          </p:cNvSpPr>
          <p:nvPr>
            <p:ph type="sldNum" sz="quarter" idx="29"/>
          </p:nvPr>
        </p:nvSpPr>
        <p:spPr/>
        <p:txBody>
          <a:bodyPr/>
          <a:lstStyle/>
          <a:p>
            <a:fld id="{47FEACEE-25B4-4A2D-B147-27296E36371D}" type="slidenum">
              <a:rPr lang="en-US" altLang="zh-CN" smtClean="0"/>
              <a:pPr/>
              <a:t>6</a:t>
            </a:fld>
            <a:endParaRPr lang="en-US" altLang="zh-CN" dirty="0"/>
          </a:p>
        </p:txBody>
      </p:sp>
    </p:spTree>
    <p:extLst>
      <p:ext uri="{BB962C8B-B14F-4D97-AF65-F5344CB8AC3E}">
        <p14:creationId xmlns:p14="http://schemas.microsoft.com/office/powerpoint/2010/main" val="2877978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 Placeholder 39">
            <a:extLst>
              <a:ext uri="{FF2B5EF4-FFF2-40B4-BE49-F238E27FC236}">
                <a16:creationId xmlns:a16="http://schemas.microsoft.com/office/drawing/2014/main" id="{FA2F9A05-8E79-46FF-1ABA-927EF2D69BC5}"/>
              </a:ext>
            </a:extLst>
          </p:cNvPr>
          <p:cNvSpPr>
            <a:spLocks noGrp="1"/>
          </p:cNvSpPr>
          <p:nvPr>
            <p:ph type="body" sz="quarter" idx="27"/>
          </p:nvPr>
        </p:nvSpPr>
        <p:spPr>
          <a:xfrm>
            <a:off x="949419" y="2591159"/>
            <a:ext cx="2476486" cy="868332"/>
          </a:xfrm>
        </p:spPr>
        <p:txBody>
          <a:bodyPr/>
          <a:lstStyle/>
          <a:p>
            <a:r>
              <a:rPr lang="en-US" dirty="0"/>
              <a:t>Content Overview</a:t>
            </a:r>
          </a:p>
        </p:txBody>
      </p:sp>
      <p:sp>
        <p:nvSpPr>
          <p:cNvPr id="50" name="Text Placeholder 49">
            <a:extLst>
              <a:ext uri="{FF2B5EF4-FFF2-40B4-BE49-F238E27FC236}">
                <a16:creationId xmlns:a16="http://schemas.microsoft.com/office/drawing/2014/main" id="{0532F467-8DBE-D445-0CF7-D5D242DAD663}"/>
              </a:ext>
            </a:extLst>
          </p:cNvPr>
          <p:cNvSpPr>
            <a:spLocks noGrp="1"/>
          </p:cNvSpPr>
          <p:nvPr>
            <p:ph type="body" sz="quarter" idx="32"/>
          </p:nvPr>
        </p:nvSpPr>
        <p:spPr>
          <a:xfrm>
            <a:off x="949419" y="3501983"/>
            <a:ext cx="2476486" cy="2470304"/>
          </a:xfrm>
        </p:spPr>
        <p:txBody>
          <a:bodyPr/>
          <a:lstStyle/>
          <a:p>
            <a:pPr marL="285750" lvl="0" indent="-285750" algn="l">
              <a:lnSpc>
                <a:spcPct val="150000"/>
              </a:lnSpc>
              <a:buFont typeface="Arial" panose="020B0604020202020204" pitchFamily="34" charset="0"/>
              <a:buChar char="•"/>
            </a:pPr>
            <a:r>
              <a:rPr lang="en-US" b="1" dirty="0"/>
              <a:t>Line Chart-</a:t>
            </a:r>
            <a:r>
              <a:rPr lang="en-US" dirty="0"/>
              <a:t>Title by Release Decade.</a:t>
            </a:r>
          </a:p>
          <a:p>
            <a:pPr marL="285750" lvl="0" indent="-285750" algn="l">
              <a:lnSpc>
                <a:spcPct val="150000"/>
              </a:lnSpc>
              <a:buFont typeface="Arial" panose="020B0604020202020204" pitchFamily="34" charset="0"/>
              <a:buChar char="•"/>
            </a:pPr>
            <a:r>
              <a:rPr lang="en-US" b="1" dirty="0"/>
              <a:t>Donut Chart- </a:t>
            </a:r>
            <a:r>
              <a:rPr lang="en-US" dirty="0"/>
              <a:t>Tile by Type.</a:t>
            </a:r>
          </a:p>
          <a:p>
            <a:pPr marL="285750" lvl="0" indent="-285750" algn="l">
              <a:lnSpc>
                <a:spcPct val="150000"/>
              </a:lnSpc>
              <a:buFont typeface="Arial" panose="020B0604020202020204" pitchFamily="34" charset="0"/>
              <a:buChar char="•"/>
            </a:pPr>
            <a:r>
              <a:rPr lang="en-US" b="1" dirty="0"/>
              <a:t>Column Chart- </a:t>
            </a:r>
            <a:r>
              <a:rPr lang="en-US" dirty="0"/>
              <a:t>Title by Genre.</a:t>
            </a:r>
          </a:p>
        </p:txBody>
      </p:sp>
      <p:sp>
        <p:nvSpPr>
          <p:cNvPr id="42" name="Text Placeholder 41">
            <a:extLst>
              <a:ext uri="{FF2B5EF4-FFF2-40B4-BE49-F238E27FC236}">
                <a16:creationId xmlns:a16="http://schemas.microsoft.com/office/drawing/2014/main" id="{48BF8F22-E288-84B0-03E9-82D678051D45}"/>
              </a:ext>
            </a:extLst>
          </p:cNvPr>
          <p:cNvSpPr>
            <a:spLocks noGrp="1"/>
          </p:cNvSpPr>
          <p:nvPr>
            <p:ph type="body" sz="quarter" idx="46"/>
          </p:nvPr>
        </p:nvSpPr>
        <p:spPr>
          <a:xfrm>
            <a:off x="3562292" y="2578859"/>
            <a:ext cx="2476486" cy="868332"/>
          </a:xfrm>
        </p:spPr>
        <p:txBody>
          <a:bodyPr/>
          <a:lstStyle/>
          <a:p>
            <a:r>
              <a:rPr lang="en-US" dirty="0"/>
              <a:t>Rating and Quality</a:t>
            </a:r>
          </a:p>
        </p:txBody>
      </p:sp>
      <p:sp>
        <p:nvSpPr>
          <p:cNvPr id="52" name="Text Placeholder 51">
            <a:extLst>
              <a:ext uri="{FF2B5EF4-FFF2-40B4-BE49-F238E27FC236}">
                <a16:creationId xmlns:a16="http://schemas.microsoft.com/office/drawing/2014/main" id="{BACB9342-C47E-6729-46BE-F10DBB78182A}"/>
              </a:ext>
            </a:extLst>
          </p:cNvPr>
          <p:cNvSpPr>
            <a:spLocks noGrp="1"/>
          </p:cNvSpPr>
          <p:nvPr>
            <p:ph type="body" sz="quarter" idx="50"/>
          </p:nvPr>
        </p:nvSpPr>
        <p:spPr>
          <a:xfrm>
            <a:off x="3561684" y="3490858"/>
            <a:ext cx="2478887" cy="2477908"/>
          </a:xfrm>
        </p:spPr>
        <p:txBody>
          <a:bodyPr/>
          <a:lstStyle/>
          <a:p>
            <a:pPr marL="285750" indent="-285750" algn="l">
              <a:lnSpc>
                <a:spcPct val="150000"/>
              </a:lnSpc>
              <a:buFont typeface="Arial" panose="020B0604020202020204" pitchFamily="34" charset="0"/>
              <a:buChar char="•"/>
            </a:pPr>
            <a:r>
              <a:rPr lang="en-US" b="1" dirty="0"/>
              <a:t>Bar Chart- </a:t>
            </a:r>
            <a:r>
              <a:rPr lang="en-US" dirty="0"/>
              <a:t>IMDB by TMDB Rating.</a:t>
            </a:r>
          </a:p>
          <a:p>
            <a:pPr marL="285750" indent="-285750" algn="l">
              <a:lnSpc>
                <a:spcPct val="150000"/>
              </a:lnSpc>
              <a:buFont typeface="Arial" panose="020B0604020202020204" pitchFamily="34" charset="0"/>
              <a:buChar char="•"/>
            </a:pPr>
            <a:r>
              <a:rPr lang="en-US" b="1" dirty="0"/>
              <a:t>Donut Chart- </a:t>
            </a:r>
            <a:r>
              <a:rPr lang="en-US" dirty="0"/>
              <a:t>Rating Category Description.</a:t>
            </a:r>
          </a:p>
          <a:p>
            <a:pPr marL="285750" indent="-285750" algn="l">
              <a:lnSpc>
                <a:spcPct val="150000"/>
              </a:lnSpc>
              <a:buFont typeface="Arial" panose="020B0604020202020204" pitchFamily="34" charset="0"/>
              <a:buChar char="•"/>
            </a:pPr>
            <a:r>
              <a:rPr lang="en-US" b="1" dirty="0"/>
              <a:t>Column Chart- </a:t>
            </a:r>
            <a:r>
              <a:rPr lang="en-US" dirty="0"/>
              <a:t>IMDB Rating by Genre.</a:t>
            </a:r>
          </a:p>
        </p:txBody>
      </p:sp>
      <p:sp>
        <p:nvSpPr>
          <p:cNvPr id="44" name="Text Placeholder 43">
            <a:extLst>
              <a:ext uri="{FF2B5EF4-FFF2-40B4-BE49-F238E27FC236}">
                <a16:creationId xmlns:a16="http://schemas.microsoft.com/office/drawing/2014/main" id="{D0C47E92-8875-E555-5480-8A9BAEE853A7}"/>
              </a:ext>
            </a:extLst>
          </p:cNvPr>
          <p:cNvSpPr>
            <a:spLocks noGrp="1"/>
          </p:cNvSpPr>
          <p:nvPr>
            <p:ph type="body" sz="quarter" idx="47"/>
          </p:nvPr>
        </p:nvSpPr>
        <p:spPr>
          <a:xfrm>
            <a:off x="6177187" y="2578859"/>
            <a:ext cx="2476486" cy="868332"/>
          </a:xfrm>
        </p:spPr>
        <p:txBody>
          <a:bodyPr/>
          <a:lstStyle/>
          <a:p>
            <a:r>
              <a:rPr lang="en-US" dirty="0"/>
              <a:t>Audience and Popularity</a:t>
            </a:r>
          </a:p>
        </p:txBody>
      </p:sp>
      <p:sp>
        <p:nvSpPr>
          <p:cNvPr id="54" name="Text Placeholder 53">
            <a:extLst>
              <a:ext uri="{FF2B5EF4-FFF2-40B4-BE49-F238E27FC236}">
                <a16:creationId xmlns:a16="http://schemas.microsoft.com/office/drawing/2014/main" id="{DDCD388C-8374-D810-DCE5-554B7E05F55A}"/>
              </a:ext>
            </a:extLst>
          </p:cNvPr>
          <p:cNvSpPr>
            <a:spLocks noGrp="1"/>
          </p:cNvSpPr>
          <p:nvPr>
            <p:ph type="body" sz="quarter" idx="51"/>
          </p:nvPr>
        </p:nvSpPr>
        <p:spPr>
          <a:xfrm>
            <a:off x="6178091" y="3489683"/>
            <a:ext cx="2476486" cy="2470304"/>
          </a:xfrm>
        </p:spPr>
        <p:txBody>
          <a:bodyPr/>
          <a:lstStyle/>
          <a:p>
            <a:pPr marL="285750" lvl="0" indent="-285750" algn="l">
              <a:lnSpc>
                <a:spcPct val="150000"/>
              </a:lnSpc>
              <a:buFont typeface="Arial" panose="020B0604020202020204" pitchFamily="34" charset="0"/>
              <a:buChar char="•"/>
            </a:pPr>
            <a:r>
              <a:rPr lang="en-US" b="1" dirty="0"/>
              <a:t>Line Chart- </a:t>
            </a:r>
            <a:r>
              <a:rPr lang="en-US" dirty="0"/>
              <a:t>Popularity by Genre.</a:t>
            </a:r>
          </a:p>
          <a:p>
            <a:pPr marL="285750" lvl="0" indent="-285750" algn="l">
              <a:lnSpc>
                <a:spcPct val="150000"/>
              </a:lnSpc>
              <a:buFont typeface="Arial" panose="020B0604020202020204" pitchFamily="34" charset="0"/>
              <a:buChar char="•"/>
            </a:pPr>
            <a:r>
              <a:rPr lang="en-US" b="1" dirty="0"/>
              <a:t>Bar Chart-</a:t>
            </a:r>
            <a:r>
              <a:rPr lang="en-US" dirty="0"/>
              <a:t> IMDB votes by Genre.</a:t>
            </a:r>
          </a:p>
          <a:p>
            <a:pPr marL="285750" lvl="0" indent="-285750" algn="l">
              <a:lnSpc>
                <a:spcPct val="150000"/>
              </a:lnSpc>
              <a:buFont typeface="Arial" panose="020B0604020202020204" pitchFamily="34" charset="0"/>
              <a:buChar char="•"/>
            </a:pPr>
            <a:r>
              <a:rPr lang="en-US" b="1" dirty="0"/>
              <a:t>Column Chart- </a:t>
            </a:r>
            <a:r>
              <a:rPr lang="en-US" dirty="0"/>
              <a:t>Popularity Category.</a:t>
            </a:r>
          </a:p>
        </p:txBody>
      </p:sp>
      <p:sp>
        <p:nvSpPr>
          <p:cNvPr id="46" name="Text Placeholder 45">
            <a:extLst>
              <a:ext uri="{FF2B5EF4-FFF2-40B4-BE49-F238E27FC236}">
                <a16:creationId xmlns:a16="http://schemas.microsoft.com/office/drawing/2014/main" id="{B87AFF1A-EF07-5FBF-C582-29AE302A47D5}"/>
              </a:ext>
            </a:extLst>
          </p:cNvPr>
          <p:cNvSpPr>
            <a:spLocks noGrp="1"/>
          </p:cNvSpPr>
          <p:nvPr>
            <p:ph type="body" sz="quarter" idx="48"/>
          </p:nvPr>
        </p:nvSpPr>
        <p:spPr>
          <a:xfrm>
            <a:off x="8742092" y="2572459"/>
            <a:ext cx="2476486" cy="868332"/>
          </a:xfrm>
        </p:spPr>
        <p:txBody>
          <a:bodyPr/>
          <a:lstStyle/>
          <a:p>
            <a:r>
              <a:rPr lang="en-US" dirty="0"/>
              <a:t>Release and Runtime</a:t>
            </a:r>
          </a:p>
        </p:txBody>
      </p:sp>
      <p:sp>
        <p:nvSpPr>
          <p:cNvPr id="56" name="Text Placeholder 55">
            <a:extLst>
              <a:ext uri="{FF2B5EF4-FFF2-40B4-BE49-F238E27FC236}">
                <a16:creationId xmlns:a16="http://schemas.microsoft.com/office/drawing/2014/main" id="{E62055F1-67DB-9D6D-ABE2-20C3B2514A43}"/>
              </a:ext>
            </a:extLst>
          </p:cNvPr>
          <p:cNvSpPr>
            <a:spLocks noGrp="1"/>
          </p:cNvSpPr>
          <p:nvPr>
            <p:ph type="body" sz="quarter" idx="52"/>
          </p:nvPr>
        </p:nvSpPr>
        <p:spPr>
          <a:xfrm>
            <a:off x="8742543" y="3483283"/>
            <a:ext cx="2476486" cy="2470304"/>
          </a:xfrm>
        </p:spPr>
        <p:txBody>
          <a:bodyPr/>
          <a:lstStyle/>
          <a:p>
            <a:pPr marL="285750" lvl="0" indent="-285750" algn="l">
              <a:lnSpc>
                <a:spcPct val="150000"/>
              </a:lnSpc>
              <a:buFont typeface="Arial" panose="020B0604020202020204" pitchFamily="34" charset="0"/>
              <a:buChar char="•"/>
            </a:pPr>
            <a:r>
              <a:rPr lang="en-US" b="1" dirty="0"/>
              <a:t>Line Chart-</a:t>
            </a:r>
            <a:r>
              <a:rPr lang="en-US" dirty="0"/>
              <a:t>Title by Release Year.</a:t>
            </a:r>
          </a:p>
          <a:p>
            <a:pPr marL="285750" lvl="0" indent="-285750" algn="l">
              <a:lnSpc>
                <a:spcPct val="150000"/>
              </a:lnSpc>
              <a:buFont typeface="Arial" panose="020B0604020202020204" pitchFamily="34" charset="0"/>
              <a:buChar char="•"/>
            </a:pPr>
            <a:r>
              <a:rPr lang="en-US" b="1" dirty="0"/>
              <a:t>Donut Chart- </a:t>
            </a:r>
            <a:r>
              <a:rPr lang="en-US" dirty="0"/>
              <a:t>Runtime Category.</a:t>
            </a:r>
          </a:p>
          <a:p>
            <a:pPr marL="285750" lvl="0" indent="-285750" algn="l">
              <a:lnSpc>
                <a:spcPct val="150000"/>
              </a:lnSpc>
              <a:buFont typeface="Arial" panose="020B0604020202020204" pitchFamily="34" charset="0"/>
              <a:buChar char="•"/>
            </a:pPr>
            <a:r>
              <a:rPr lang="en-US" b="1" dirty="0"/>
              <a:t>Column Chart- </a:t>
            </a:r>
            <a:r>
              <a:rPr lang="en-US" dirty="0"/>
              <a:t>Average Runtime by Type.</a:t>
            </a:r>
          </a:p>
          <a:p>
            <a:pPr algn="l"/>
            <a:endParaRPr lang="en-US" dirty="0"/>
          </a:p>
        </p:txBody>
      </p:sp>
      <p:sp>
        <p:nvSpPr>
          <p:cNvPr id="26" name="Rectangle 25">
            <a:extLst>
              <a:ext uri="{FF2B5EF4-FFF2-40B4-BE49-F238E27FC236}">
                <a16:creationId xmlns:a16="http://schemas.microsoft.com/office/drawing/2014/main" id="{285177ED-2E57-8FF5-AFD8-AA79A7B24B3D}"/>
              </a:ext>
              <a:ext uri="{C183D7F6-B498-43B3-948B-1728B52AA6E4}">
                <adec:decorative xmlns:adec="http://schemas.microsoft.com/office/drawing/2017/decorative" val="1"/>
              </a:ext>
            </a:extLst>
          </p:cNvPr>
          <p:cNvSpPr/>
          <p:nvPr/>
        </p:nvSpPr>
        <p:spPr>
          <a:xfrm>
            <a:off x="805457" y="2567367"/>
            <a:ext cx="10581085" cy="861633"/>
          </a:xfrm>
          <a:prstGeom prst="rect">
            <a:avLst/>
          </a:prstGeom>
          <a:noFill/>
          <a:ln w="28575">
            <a:solidFill>
              <a:srgbClr val="D214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latin typeface="+mn-lt"/>
            </a:endParaRPr>
          </a:p>
        </p:txBody>
      </p:sp>
      <p:sp>
        <p:nvSpPr>
          <p:cNvPr id="4" name="Footer Placeholder 3">
            <a:extLst>
              <a:ext uri="{FF2B5EF4-FFF2-40B4-BE49-F238E27FC236}">
                <a16:creationId xmlns:a16="http://schemas.microsoft.com/office/drawing/2014/main" id="{DEFD68CE-EF5C-4046-41F5-3763D028DAE5}"/>
              </a:ext>
            </a:extLst>
          </p:cNvPr>
          <p:cNvSpPr>
            <a:spLocks noGrp="1"/>
          </p:cNvSpPr>
          <p:nvPr>
            <p:ph type="ftr" sz="quarter" idx="54"/>
          </p:nvPr>
        </p:nvSpPr>
        <p:spPr/>
        <p:txBody>
          <a:bodyPr/>
          <a:lstStyle/>
          <a:p>
            <a:r>
              <a:rPr lang="en-IN" dirty="0"/>
              <a:t>Netflix Content Analytics | Excel Dashboard</a:t>
            </a:r>
            <a:endParaRPr lang="en-US" noProof="0" dirty="0"/>
          </a:p>
        </p:txBody>
      </p:sp>
      <p:sp>
        <p:nvSpPr>
          <p:cNvPr id="5" name="Slide Number Placeholder 4">
            <a:extLst>
              <a:ext uri="{FF2B5EF4-FFF2-40B4-BE49-F238E27FC236}">
                <a16:creationId xmlns:a16="http://schemas.microsoft.com/office/drawing/2014/main" id="{64FC7183-3EBB-B8D1-A66D-964D3C3A7DA8}"/>
              </a:ext>
            </a:extLst>
          </p:cNvPr>
          <p:cNvSpPr>
            <a:spLocks noGrp="1"/>
          </p:cNvSpPr>
          <p:nvPr>
            <p:ph type="sldNum" sz="quarter" idx="55"/>
          </p:nvPr>
        </p:nvSpPr>
        <p:spPr/>
        <p:txBody>
          <a:bodyPr/>
          <a:lstStyle/>
          <a:p>
            <a:fld id="{47FEACEE-25B4-4A2D-B147-27296E36371D}" type="slidenum">
              <a:rPr lang="en-US" altLang="zh-CN" noProof="0" smtClean="0"/>
              <a:pPr/>
              <a:t>7</a:t>
            </a:fld>
            <a:endParaRPr lang="en-US" altLang="zh-CN" noProof="0" dirty="0"/>
          </a:p>
        </p:txBody>
      </p:sp>
      <p:sp>
        <p:nvSpPr>
          <p:cNvPr id="12" name="Title 7">
            <a:extLst>
              <a:ext uri="{FF2B5EF4-FFF2-40B4-BE49-F238E27FC236}">
                <a16:creationId xmlns:a16="http://schemas.microsoft.com/office/drawing/2014/main" id="{3C4C9F6B-BE72-97DD-0A98-C259A1ECA384}"/>
              </a:ext>
            </a:extLst>
          </p:cNvPr>
          <p:cNvSpPr>
            <a:spLocks noGrp="1"/>
          </p:cNvSpPr>
          <p:nvPr>
            <p:ph type="title"/>
          </p:nvPr>
        </p:nvSpPr>
        <p:spPr>
          <a:xfrm>
            <a:off x="872237" y="190341"/>
            <a:ext cx="5329175" cy="868331"/>
          </a:xfrm>
        </p:spPr>
        <p:txBody>
          <a:bodyPr/>
          <a:lstStyle/>
          <a:p>
            <a:r>
              <a:rPr lang="en-US" sz="4800" dirty="0"/>
              <a:t>Chart Specifications</a:t>
            </a:r>
          </a:p>
        </p:txBody>
      </p:sp>
      <p:sp>
        <p:nvSpPr>
          <p:cNvPr id="2" name="Rectangle 1">
            <a:extLst>
              <a:ext uri="{FF2B5EF4-FFF2-40B4-BE49-F238E27FC236}">
                <a16:creationId xmlns:a16="http://schemas.microsoft.com/office/drawing/2014/main" id="{2655E7F3-7DDC-ADB9-28E9-38166E5364C8}"/>
              </a:ext>
            </a:extLst>
          </p:cNvPr>
          <p:cNvSpPr/>
          <p:nvPr/>
        </p:nvSpPr>
        <p:spPr>
          <a:xfrm>
            <a:off x="152" y="0"/>
            <a:ext cx="228600" cy="6858000"/>
          </a:xfrm>
          <a:prstGeom prst="rect">
            <a:avLst/>
          </a:prstGeom>
          <a:solidFill>
            <a:srgbClr val="D2141E"/>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 name="Rectangle: Rounded Corners 2">
            <a:extLst>
              <a:ext uri="{FF2B5EF4-FFF2-40B4-BE49-F238E27FC236}">
                <a16:creationId xmlns:a16="http://schemas.microsoft.com/office/drawing/2014/main" id="{C1AF2C40-3AB0-92B4-B20E-A60D5846FA1E}"/>
              </a:ext>
            </a:extLst>
          </p:cNvPr>
          <p:cNvSpPr/>
          <p:nvPr/>
        </p:nvSpPr>
        <p:spPr>
          <a:xfrm>
            <a:off x="949419" y="1373696"/>
            <a:ext cx="1879600" cy="892646"/>
          </a:xfrm>
          <a:prstGeom prst="roundRect">
            <a:avLst/>
          </a:prstGeom>
          <a:solidFill>
            <a:srgbClr val="EB0005"/>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bg1"/>
                </a:solidFill>
              </a:rPr>
              <a:t>KPIs</a:t>
            </a:r>
          </a:p>
        </p:txBody>
      </p:sp>
      <p:sp>
        <p:nvSpPr>
          <p:cNvPr id="7" name="Rectangle: Rounded Corners 6">
            <a:extLst>
              <a:ext uri="{FF2B5EF4-FFF2-40B4-BE49-F238E27FC236}">
                <a16:creationId xmlns:a16="http://schemas.microsoft.com/office/drawing/2014/main" id="{B05B9655-B3B6-A198-F4EA-AF1A14F1FDB9}"/>
              </a:ext>
            </a:extLst>
          </p:cNvPr>
          <p:cNvSpPr/>
          <p:nvPr/>
        </p:nvSpPr>
        <p:spPr>
          <a:xfrm>
            <a:off x="3121105" y="1267691"/>
            <a:ext cx="8073064" cy="1104656"/>
          </a:xfrm>
          <a:prstGeom prst="round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IN" sz="1500" dirty="0">
                <a:solidFill>
                  <a:schemeClr val="tx1"/>
                </a:solidFill>
              </a:rPr>
              <a:t>Total Title, Total Movies, Total Series, Average Runtime.</a:t>
            </a:r>
          </a:p>
          <a:p>
            <a:pPr marL="285750" indent="-285750">
              <a:buFont typeface="Arial" panose="020B0604020202020204" pitchFamily="34" charset="0"/>
              <a:buChar char="•"/>
            </a:pPr>
            <a:r>
              <a:rPr lang="en-IN" sz="1500" dirty="0">
                <a:solidFill>
                  <a:schemeClr val="tx1"/>
                </a:solidFill>
              </a:rPr>
              <a:t>Average Imdb Rating, Average Tmdb Rating, Maximum Tmdb Rating, Average Runtime.</a:t>
            </a:r>
          </a:p>
          <a:p>
            <a:pPr marL="285750" indent="-285750">
              <a:buFont typeface="Arial" panose="020B0604020202020204" pitchFamily="34" charset="0"/>
              <a:buChar char="•"/>
            </a:pPr>
            <a:r>
              <a:rPr lang="en-IN" sz="1500" dirty="0">
                <a:solidFill>
                  <a:schemeClr val="tx1"/>
                </a:solidFill>
              </a:rPr>
              <a:t>Total Imdb Votes, Average Imdb Votes, Total Tmdb Popularity, Maximum Tmdb Popularity.</a:t>
            </a:r>
          </a:p>
          <a:p>
            <a:pPr marL="285750" indent="-285750">
              <a:buFont typeface="Arial" panose="020B0604020202020204" pitchFamily="34" charset="0"/>
              <a:buChar char="•"/>
            </a:pPr>
            <a:r>
              <a:rPr lang="en-IN" sz="1500" dirty="0">
                <a:solidFill>
                  <a:schemeClr val="tx1"/>
                </a:solidFill>
              </a:rPr>
              <a:t>Latest Release Year, Earliest Release Year, Average Runtime, Latest Runtime.</a:t>
            </a:r>
          </a:p>
        </p:txBody>
      </p:sp>
    </p:spTree>
    <p:extLst>
      <p:ext uri="{BB962C8B-B14F-4D97-AF65-F5344CB8AC3E}">
        <p14:creationId xmlns:p14="http://schemas.microsoft.com/office/powerpoint/2010/main" val="2624021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B7CF366-FA1B-9B69-C52C-373F4A541C3F}"/>
              </a:ext>
            </a:extLst>
          </p:cNvPr>
          <p:cNvSpPr>
            <a:spLocks noGrp="1"/>
          </p:cNvSpPr>
          <p:nvPr>
            <p:ph type="ftr" sz="quarter" idx="28"/>
          </p:nvPr>
        </p:nvSpPr>
        <p:spPr>
          <a:xfrm>
            <a:off x="421570" y="6406788"/>
            <a:ext cx="4114800" cy="365125"/>
          </a:xfrm>
        </p:spPr>
        <p:txBody>
          <a:bodyPr/>
          <a:lstStyle/>
          <a:p>
            <a:r>
              <a:rPr lang="en-US" dirty="0"/>
              <a:t>Presentation title</a:t>
            </a:r>
          </a:p>
        </p:txBody>
      </p:sp>
      <p:pic>
        <p:nvPicPr>
          <p:cNvPr id="8" name="Picture 7">
            <a:extLst>
              <a:ext uri="{FF2B5EF4-FFF2-40B4-BE49-F238E27FC236}">
                <a16:creationId xmlns:a16="http://schemas.microsoft.com/office/drawing/2014/main" id="{33B96639-1475-3EDA-B679-B8A5AC6332CA}"/>
              </a:ext>
            </a:extLst>
          </p:cNvPr>
          <p:cNvPicPr>
            <a:picLocks noChangeAspect="1"/>
          </p:cNvPicPr>
          <p:nvPr/>
        </p:nvPicPr>
        <p:blipFill>
          <a:blip r:embed="rId2"/>
          <a:stretch>
            <a:fillRect/>
          </a:stretch>
        </p:blipFill>
        <p:spPr>
          <a:xfrm>
            <a:off x="1" y="-105102"/>
            <a:ext cx="12192000" cy="6963102"/>
          </a:xfrm>
          <a:prstGeom prst="rect">
            <a:avLst/>
          </a:prstGeom>
        </p:spPr>
      </p:pic>
      <p:sp>
        <p:nvSpPr>
          <p:cNvPr id="5" name="Slide Number Placeholder 4">
            <a:extLst>
              <a:ext uri="{FF2B5EF4-FFF2-40B4-BE49-F238E27FC236}">
                <a16:creationId xmlns:a16="http://schemas.microsoft.com/office/drawing/2014/main" id="{72847D8B-1602-1CBB-3ED3-5C5745A53ACB}"/>
              </a:ext>
            </a:extLst>
          </p:cNvPr>
          <p:cNvSpPr>
            <a:spLocks noGrp="1"/>
          </p:cNvSpPr>
          <p:nvPr>
            <p:ph type="sldNum" sz="quarter" idx="29"/>
          </p:nvPr>
        </p:nvSpPr>
        <p:spPr/>
        <p:txBody>
          <a:bodyPr/>
          <a:lstStyle/>
          <a:p>
            <a:fld id="{47FEACEE-25B4-4A2D-B147-27296E36371D}" type="slidenum">
              <a:rPr lang="en-US" altLang="zh-CN" smtClean="0">
                <a:solidFill>
                  <a:schemeClr val="bg1"/>
                </a:solidFill>
              </a:rPr>
              <a:pPr/>
              <a:t>8</a:t>
            </a:fld>
            <a:endParaRPr lang="en-US" altLang="zh-CN" dirty="0">
              <a:solidFill>
                <a:schemeClr val="bg1"/>
              </a:solidFill>
            </a:endParaRPr>
          </a:p>
        </p:txBody>
      </p:sp>
    </p:spTree>
    <p:extLst>
      <p:ext uri="{BB962C8B-B14F-4D97-AF65-F5344CB8AC3E}">
        <p14:creationId xmlns:p14="http://schemas.microsoft.com/office/powerpoint/2010/main" val="691637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7C64EEA-9202-677B-E620-00EF4E1A56AC}"/>
              </a:ext>
            </a:extLst>
          </p:cNvPr>
          <p:cNvPicPr>
            <a:picLocks noChangeAspect="1"/>
          </p:cNvPicPr>
          <p:nvPr/>
        </p:nvPicPr>
        <p:blipFill>
          <a:blip r:embed="rId2"/>
          <a:stretch>
            <a:fillRect/>
          </a:stretch>
        </p:blipFill>
        <p:spPr>
          <a:xfrm>
            <a:off x="-71120" y="-81280"/>
            <a:ext cx="12263120" cy="6939280"/>
          </a:xfrm>
          <a:prstGeom prst="rect">
            <a:avLst/>
          </a:prstGeom>
        </p:spPr>
      </p:pic>
      <p:sp>
        <p:nvSpPr>
          <p:cNvPr id="4" name="Footer Placeholder 3">
            <a:extLst>
              <a:ext uri="{FF2B5EF4-FFF2-40B4-BE49-F238E27FC236}">
                <a16:creationId xmlns:a16="http://schemas.microsoft.com/office/drawing/2014/main" id="{CB7CF366-FA1B-9B69-C52C-373F4A541C3F}"/>
              </a:ext>
            </a:extLst>
          </p:cNvPr>
          <p:cNvSpPr>
            <a:spLocks noGrp="1"/>
          </p:cNvSpPr>
          <p:nvPr>
            <p:ph type="ftr" sz="quarter" idx="28"/>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72847D8B-1602-1CBB-3ED3-5C5745A53ACB}"/>
              </a:ext>
            </a:extLst>
          </p:cNvPr>
          <p:cNvSpPr>
            <a:spLocks noGrp="1"/>
          </p:cNvSpPr>
          <p:nvPr>
            <p:ph type="sldNum" sz="quarter" idx="29"/>
          </p:nvPr>
        </p:nvSpPr>
        <p:spPr/>
        <p:txBody>
          <a:bodyPr/>
          <a:lstStyle/>
          <a:p>
            <a:fld id="{47FEACEE-25B4-4A2D-B147-27296E36371D}" type="slidenum">
              <a:rPr lang="en-US" altLang="zh-CN" smtClean="0">
                <a:solidFill>
                  <a:schemeClr val="bg1"/>
                </a:solidFill>
              </a:rPr>
              <a:pPr/>
              <a:t>9</a:t>
            </a:fld>
            <a:endParaRPr lang="en-US" altLang="zh-CN" dirty="0">
              <a:solidFill>
                <a:schemeClr val="bg1"/>
              </a:solidFill>
            </a:endParaRPr>
          </a:p>
        </p:txBody>
      </p:sp>
    </p:spTree>
    <p:extLst>
      <p:ext uri="{BB962C8B-B14F-4D97-AF65-F5344CB8AC3E}">
        <p14:creationId xmlns:p14="http://schemas.microsoft.com/office/powerpoint/2010/main" val="1308150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02EDD-B155-0D26-4603-1F504C29D871}"/>
              </a:ext>
            </a:extLst>
          </p:cNvPr>
          <p:cNvSpPr>
            <a:spLocks noGrp="1"/>
          </p:cNvSpPr>
          <p:nvPr>
            <p:ph type="title"/>
          </p:nvPr>
        </p:nvSpPr>
        <p:spPr/>
        <p:txBody>
          <a:bodyPr/>
          <a:lstStyle/>
          <a:p>
            <a:endParaRPr lang="en-IN"/>
          </a:p>
        </p:txBody>
      </p:sp>
      <p:sp>
        <p:nvSpPr>
          <p:cNvPr id="3" name="Chart Placeholder 2">
            <a:extLst>
              <a:ext uri="{FF2B5EF4-FFF2-40B4-BE49-F238E27FC236}">
                <a16:creationId xmlns:a16="http://schemas.microsoft.com/office/drawing/2014/main" id="{8023B1AC-14AD-292A-CF90-E0258BC81C9F}"/>
              </a:ext>
            </a:extLst>
          </p:cNvPr>
          <p:cNvSpPr>
            <a:spLocks noGrp="1"/>
          </p:cNvSpPr>
          <p:nvPr>
            <p:ph type="chart" sz="quarter" idx="27"/>
          </p:nvPr>
        </p:nvSpPr>
        <p:spPr/>
      </p:sp>
      <p:sp>
        <p:nvSpPr>
          <p:cNvPr id="4" name="Footer Placeholder 3">
            <a:extLst>
              <a:ext uri="{FF2B5EF4-FFF2-40B4-BE49-F238E27FC236}">
                <a16:creationId xmlns:a16="http://schemas.microsoft.com/office/drawing/2014/main" id="{CB7CF366-FA1B-9B69-C52C-373F4A541C3F}"/>
              </a:ext>
            </a:extLst>
          </p:cNvPr>
          <p:cNvSpPr>
            <a:spLocks noGrp="1"/>
          </p:cNvSpPr>
          <p:nvPr>
            <p:ph type="ftr" sz="quarter" idx="28"/>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72847D8B-1602-1CBB-3ED3-5C5745A53ACB}"/>
              </a:ext>
            </a:extLst>
          </p:cNvPr>
          <p:cNvSpPr>
            <a:spLocks noGrp="1"/>
          </p:cNvSpPr>
          <p:nvPr>
            <p:ph type="sldNum" sz="quarter" idx="29"/>
          </p:nvPr>
        </p:nvSpPr>
        <p:spPr/>
        <p:txBody>
          <a:bodyPr/>
          <a:lstStyle/>
          <a:p>
            <a:fld id="{47FEACEE-25B4-4A2D-B147-27296E36371D}" type="slidenum">
              <a:rPr lang="en-US" altLang="zh-CN" smtClean="0">
                <a:solidFill>
                  <a:schemeClr val="bg1"/>
                </a:solidFill>
              </a:rPr>
              <a:pPr/>
              <a:t>10</a:t>
            </a:fld>
            <a:endParaRPr lang="en-US" altLang="zh-CN" dirty="0">
              <a:solidFill>
                <a:schemeClr val="bg1"/>
              </a:solidFill>
            </a:endParaRPr>
          </a:p>
        </p:txBody>
      </p:sp>
      <p:pic>
        <p:nvPicPr>
          <p:cNvPr id="8" name="Picture 7">
            <a:extLst>
              <a:ext uri="{FF2B5EF4-FFF2-40B4-BE49-F238E27FC236}">
                <a16:creationId xmlns:a16="http://schemas.microsoft.com/office/drawing/2014/main" id="{8E9E10A8-4A73-8D98-662C-1704F34B555F}"/>
              </a:ext>
            </a:extLst>
          </p:cNvPr>
          <p:cNvPicPr>
            <a:picLocks noChangeAspect="1"/>
          </p:cNvPicPr>
          <p:nvPr/>
        </p:nvPicPr>
        <p:blipFill>
          <a:blip r:embed="rId2"/>
          <a:stretch>
            <a:fillRect/>
          </a:stretch>
        </p:blipFill>
        <p:spPr>
          <a:xfrm>
            <a:off x="0" y="-81280"/>
            <a:ext cx="12192000" cy="6939280"/>
          </a:xfrm>
          <a:prstGeom prst="rect">
            <a:avLst/>
          </a:prstGeom>
        </p:spPr>
      </p:pic>
    </p:spTree>
    <p:extLst>
      <p:ext uri="{BB962C8B-B14F-4D97-AF65-F5344CB8AC3E}">
        <p14:creationId xmlns:p14="http://schemas.microsoft.com/office/powerpoint/2010/main" val="648358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2847D8B-1602-1CBB-3ED3-5C5745A53ACB}"/>
              </a:ext>
            </a:extLst>
          </p:cNvPr>
          <p:cNvSpPr>
            <a:spLocks noGrp="1"/>
          </p:cNvSpPr>
          <p:nvPr>
            <p:ph type="sldNum" sz="quarter" idx="29"/>
          </p:nvPr>
        </p:nvSpPr>
        <p:spPr/>
        <p:txBody>
          <a:bodyPr/>
          <a:lstStyle/>
          <a:p>
            <a:fld id="{47FEACEE-25B4-4A2D-B147-27296E36371D}" type="slidenum">
              <a:rPr lang="en-US" altLang="zh-CN" smtClean="0">
                <a:solidFill>
                  <a:schemeClr val="bg1"/>
                </a:solidFill>
              </a:rPr>
              <a:pPr/>
              <a:t>11</a:t>
            </a:fld>
            <a:endParaRPr lang="en-US" altLang="zh-CN" dirty="0">
              <a:solidFill>
                <a:schemeClr val="bg1"/>
              </a:solidFill>
            </a:endParaRPr>
          </a:p>
        </p:txBody>
      </p:sp>
      <p:pic>
        <p:nvPicPr>
          <p:cNvPr id="3" name="Picture 2">
            <a:extLst>
              <a:ext uri="{FF2B5EF4-FFF2-40B4-BE49-F238E27FC236}">
                <a16:creationId xmlns:a16="http://schemas.microsoft.com/office/drawing/2014/main" id="{56BB9529-0195-B1DA-9AF2-4FC438D8D259}"/>
              </a:ext>
            </a:extLst>
          </p:cNvPr>
          <p:cNvPicPr>
            <a:picLocks noChangeAspect="1"/>
          </p:cNvPicPr>
          <p:nvPr/>
        </p:nvPicPr>
        <p:blipFill>
          <a:blip r:embed="rId2"/>
          <a:stretch>
            <a:fillRect/>
          </a:stretch>
        </p:blipFill>
        <p:spPr>
          <a:xfrm>
            <a:off x="0" y="-81280"/>
            <a:ext cx="12192000" cy="6939280"/>
          </a:xfrm>
          <a:prstGeom prst="rect">
            <a:avLst/>
          </a:prstGeom>
        </p:spPr>
      </p:pic>
    </p:spTree>
    <p:extLst>
      <p:ext uri="{BB962C8B-B14F-4D97-AF65-F5344CB8AC3E}">
        <p14:creationId xmlns:p14="http://schemas.microsoft.com/office/powerpoint/2010/main" val="278052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alpha val="20000"/>
          </a:schemeClr>
        </a:solidFill>
        <a:effectLst/>
      </p:bgPr>
    </p:bg>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4D761329-3BEF-0173-1328-A4DB26572AFF}"/>
              </a:ext>
            </a:extLst>
          </p:cNvPr>
          <p:cNvSpPr>
            <a:spLocks noGrp="1"/>
          </p:cNvSpPr>
          <p:nvPr>
            <p:ph type="title"/>
          </p:nvPr>
        </p:nvSpPr>
        <p:spPr>
          <a:xfrm>
            <a:off x="716110" y="141978"/>
            <a:ext cx="7396034" cy="615030"/>
          </a:xfrm>
        </p:spPr>
        <p:txBody>
          <a:bodyPr/>
          <a:lstStyle/>
          <a:p>
            <a:r>
              <a:rPr lang="en-US" sz="4000" dirty="0"/>
              <a:t>Key Insights &amp; Recommendation</a:t>
            </a:r>
          </a:p>
        </p:txBody>
      </p:sp>
      <p:sp>
        <p:nvSpPr>
          <p:cNvPr id="7" name="Shape 4">
            <a:extLst>
              <a:ext uri="{FF2B5EF4-FFF2-40B4-BE49-F238E27FC236}">
                <a16:creationId xmlns:a16="http://schemas.microsoft.com/office/drawing/2014/main" id="{D15FE6AB-3958-A138-F768-233AD712029A}"/>
              </a:ext>
            </a:extLst>
          </p:cNvPr>
          <p:cNvSpPr/>
          <p:nvPr/>
        </p:nvSpPr>
        <p:spPr>
          <a:xfrm>
            <a:off x="716110" y="1634748"/>
            <a:ext cx="4728249" cy="1350190"/>
          </a:xfrm>
          <a:prstGeom prst="roundRect">
            <a:avLst>
              <a:gd name="adj" fmla="val 4245"/>
            </a:avLst>
          </a:prstGeom>
          <a:solidFill>
            <a:schemeClr val="bg1">
              <a:lumMod val="95000"/>
            </a:schemeClr>
          </a:solidFill>
          <a:ln/>
          <a:effectLst>
            <a:outerShdw blurRad="50800" dist="38100" dir="2700000" algn="tl" rotWithShape="0">
              <a:prstClr val="black">
                <a:alpha val="40000"/>
              </a:prstClr>
            </a:outerShdw>
          </a:effectLst>
        </p:spPr>
        <p:txBody>
          <a:bodyPr/>
          <a:lstStyle/>
          <a:p>
            <a:endParaRPr lang="en-IN"/>
          </a:p>
        </p:txBody>
      </p:sp>
      <p:sp>
        <p:nvSpPr>
          <p:cNvPr id="8" name="Shape 5">
            <a:extLst>
              <a:ext uri="{FF2B5EF4-FFF2-40B4-BE49-F238E27FC236}">
                <a16:creationId xmlns:a16="http://schemas.microsoft.com/office/drawing/2014/main" id="{9DC0118A-EEE1-1F3D-E66F-BA8B24C0A283}"/>
              </a:ext>
            </a:extLst>
          </p:cNvPr>
          <p:cNvSpPr/>
          <p:nvPr/>
        </p:nvSpPr>
        <p:spPr>
          <a:xfrm>
            <a:off x="917277" y="1766823"/>
            <a:ext cx="461483" cy="479006"/>
          </a:xfrm>
          <a:prstGeom prst="roundRect">
            <a:avLst>
              <a:gd name="adj" fmla="val 50000"/>
            </a:avLst>
          </a:prstGeom>
          <a:solidFill>
            <a:srgbClr val="EB0005"/>
          </a:solidFill>
          <a:ln/>
        </p:spPr>
        <p:txBody>
          <a:bodyPr/>
          <a:lstStyle/>
          <a:p>
            <a:pPr algn="ctr"/>
            <a:r>
              <a:rPr lang="en-IN" b="1" dirty="0">
                <a:solidFill>
                  <a:schemeClr val="bg1"/>
                </a:solidFill>
              </a:rPr>
              <a:t>1</a:t>
            </a:r>
          </a:p>
        </p:txBody>
      </p:sp>
      <p:sp>
        <p:nvSpPr>
          <p:cNvPr id="9" name="Text 7">
            <a:extLst>
              <a:ext uri="{FF2B5EF4-FFF2-40B4-BE49-F238E27FC236}">
                <a16:creationId xmlns:a16="http://schemas.microsoft.com/office/drawing/2014/main" id="{BBDDD5F6-56DE-CA53-48B9-7CF412F7F960}"/>
              </a:ext>
            </a:extLst>
          </p:cNvPr>
          <p:cNvSpPr/>
          <p:nvPr/>
        </p:nvSpPr>
        <p:spPr>
          <a:xfrm>
            <a:off x="1539069" y="1748535"/>
            <a:ext cx="3618230" cy="393789"/>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t>High ratings do not always mean high popularity.</a:t>
            </a:r>
            <a:endParaRPr lang="en-IN" sz="1400" b="1" dirty="0"/>
          </a:p>
        </p:txBody>
      </p:sp>
      <p:sp>
        <p:nvSpPr>
          <p:cNvPr id="10" name="Text 8">
            <a:extLst>
              <a:ext uri="{FF2B5EF4-FFF2-40B4-BE49-F238E27FC236}">
                <a16:creationId xmlns:a16="http://schemas.microsoft.com/office/drawing/2014/main" id="{FDC4A12E-405A-42CF-B009-C9004214E7F0}"/>
              </a:ext>
            </a:extLst>
          </p:cNvPr>
          <p:cNvSpPr/>
          <p:nvPr/>
        </p:nvSpPr>
        <p:spPr>
          <a:xfrm>
            <a:off x="1539068" y="2243953"/>
            <a:ext cx="3705594" cy="52142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Some titles may receive strong IMDb/TMDB ratings but comparatively lower popularity.</a:t>
            </a:r>
          </a:p>
        </p:txBody>
      </p:sp>
      <p:sp>
        <p:nvSpPr>
          <p:cNvPr id="11" name="Shape 4">
            <a:extLst>
              <a:ext uri="{FF2B5EF4-FFF2-40B4-BE49-F238E27FC236}">
                <a16:creationId xmlns:a16="http://schemas.microsoft.com/office/drawing/2014/main" id="{1CC382CA-5E4D-7E9C-2A7C-E947F06BC84D}"/>
              </a:ext>
            </a:extLst>
          </p:cNvPr>
          <p:cNvSpPr/>
          <p:nvPr/>
        </p:nvSpPr>
        <p:spPr>
          <a:xfrm>
            <a:off x="6096000" y="1620487"/>
            <a:ext cx="4728249" cy="1350190"/>
          </a:xfrm>
          <a:prstGeom prst="roundRect">
            <a:avLst>
              <a:gd name="adj" fmla="val 4245"/>
            </a:avLst>
          </a:prstGeom>
          <a:solidFill>
            <a:schemeClr val="bg1">
              <a:lumMod val="95000"/>
            </a:schemeClr>
          </a:solidFill>
          <a:ln/>
          <a:effectLst>
            <a:outerShdw blurRad="50800" dist="38100" dir="2700000" algn="tl" rotWithShape="0">
              <a:prstClr val="black">
                <a:alpha val="40000"/>
              </a:prstClr>
            </a:outerShdw>
          </a:effectLst>
        </p:spPr>
        <p:txBody>
          <a:bodyPr/>
          <a:lstStyle/>
          <a:p>
            <a:endParaRPr lang="en-IN"/>
          </a:p>
        </p:txBody>
      </p:sp>
      <p:sp>
        <p:nvSpPr>
          <p:cNvPr id="14" name="Text 8">
            <a:extLst>
              <a:ext uri="{FF2B5EF4-FFF2-40B4-BE49-F238E27FC236}">
                <a16:creationId xmlns:a16="http://schemas.microsoft.com/office/drawing/2014/main" id="{905D1081-8BC4-C0B7-68D9-E479AEE8D941}"/>
              </a:ext>
            </a:extLst>
          </p:cNvPr>
          <p:cNvSpPr/>
          <p:nvPr/>
        </p:nvSpPr>
        <p:spPr>
          <a:xfrm>
            <a:off x="6918958" y="1814215"/>
            <a:ext cx="3520967" cy="90470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t>Increase visibility of highly rated but less-popular titles</a:t>
            </a:r>
            <a:r>
              <a:rPr lang="en-US" sz="1400" dirty="0"/>
              <a:t> through personalized recommendations, featured sections, or targeted promotion.</a:t>
            </a:r>
          </a:p>
        </p:txBody>
      </p:sp>
      <p:sp>
        <p:nvSpPr>
          <p:cNvPr id="15" name="Shape 4">
            <a:extLst>
              <a:ext uri="{FF2B5EF4-FFF2-40B4-BE49-F238E27FC236}">
                <a16:creationId xmlns:a16="http://schemas.microsoft.com/office/drawing/2014/main" id="{A620FB78-AA3E-546E-98CD-57D8A2DBD30B}"/>
              </a:ext>
            </a:extLst>
          </p:cNvPr>
          <p:cNvSpPr/>
          <p:nvPr/>
        </p:nvSpPr>
        <p:spPr>
          <a:xfrm>
            <a:off x="716110" y="3378942"/>
            <a:ext cx="4728249" cy="1350190"/>
          </a:xfrm>
          <a:prstGeom prst="roundRect">
            <a:avLst>
              <a:gd name="adj" fmla="val 4245"/>
            </a:avLst>
          </a:prstGeom>
          <a:solidFill>
            <a:schemeClr val="bg1">
              <a:lumMod val="95000"/>
            </a:schemeClr>
          </a:solidFill>
          <a:ln/>
          <a:effectLst>
            <a:outerShdw blurRad="50800" dist="38100" dir="2700000" algn="tl" rotWithShape="0">
              <a:prstClr val="black">
                <a:alpha val="40000"/>
              </a:prstClr>
            </a:outerShdw>
          </a:effectLst>
        </p:spPr>
        <p:txBody>
          <a:bodyPr/>
          <a:lstStyle/>
          <a:p>
            <a:endParaRPr lang="en-IN"/>
          </a:p>
        </p:txBody>
      </p:sp>
      <p:sp>
        <p:nvSpPr>
          <p:cNvPr id="16" name="Shape 5">
            <a:extLst>
              <a:ext uri="{FF2B5EF4-FFF2-40B4-BE49-F238E27FC236}">
                <a16:creationId xmlns:a16="http://schemas.microsoft.com/office/drawing/2014/main" id="{8D8DCDF9-2B3B-A9C6-D261-794E80AEB82B}"/>
              </a:ext>
            </a:extLst>
          </p:cNvPr>
          <p:cNvSpPr/>
          <p:nvPr/>
        </p:nvSpPr>
        <p:spPr>
          <a:xfrm>
            <a:off x="917277" y="3511017"/>
            <a:ext cx="461483" cy="479006"/>
          </a:xfrm>
          <a:prstGeom prst="roundRect">
            <a:avLst>
              <a:gd name="adj" fmla="val 50000"/>
            </a:avLst>
          </a:prstGeom>
          <a:solidFill>
            <a:srgbClr val="EB0005"/>
          </a:solidFill>
          <a:ln/>
        </p:spPr>
        <p:txBody>
          <a:bodyPr/>
          <a:lstStyle/>
          <a:p>
            <a:pPr algn="ctr"/>
            <a:r>
              <a:rPr lang="en-IN" b="1" dirty="0">
                <a:solidFill>
                  <a:schemeClr val="bg1"/>
                </a:solidFill>
              </a:rPr>
              <a:t>2</a:t>
            </a:r>
          </a:p>
        </p:txBody>
      </p:sp>
      <p:sp>
        <p:nvSpPr>
          <p:cNvPr id="17" name="Text 7">
            <a:extLst>
              <a:ext uri="{FF2B5EF4-FFF2-40B4-BE49-F238E27FC236}">
                <a16:creationId xmlns:a16="http://schemas.microsoft.com/office/drawing/2014/main" id="{E9253ECD-3C1F-7BAA-5355-6215B586D744}"/>
              </a:ext>
            </a:extLst>
          </p:cNvPr>
          <p:cNvSpPr/>
          <p:nvPr/>
        </p:nvSpPr>
        <p:spPr>
          <a:xfrm>
            <a:off x="1539069" y="3492729"/>
            <a:ext cx="3618230" cy="393789"/>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t>Higher IMDb votes generally indicate greater audience attention.</a:t>
            </a:r>
            <a:endParaRPr lang="en-IN" sz="1400" b="1" dirty="0"/>
          </a:p>
        </p:txBody>
      </p:sp>
      <p:sp>
        <p:nvSpPr>
          <p:cNvPr id="18" name="Text 8">
            <a:extLst>
              <a:ext uri="{FF2B5EF4-FFF2-40B4-BE49-F238E27FC236}">
                <a16:creationId xmlns:a16="http://schemas.microsoft.com/office/drawing/2014/main" id="{D2D8D890-6FF5-AAEF-D74D-53067981A349}"/>
              </a:ext>
            </a:extLst>
          </p:cNvPr>
          <p:cNvSpPr/>
          <p:nvPr/>
        </p:nvSpPr>
        <p:spPr>
          <a:xfrm>
            <a:off x="1539068" y="3968814"/>
            <a:ext cx="3705595" cy="50856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Vote count can help identify titles that attract significant viewer interest.</a:t>
            </a:r>
          </a:p>
        </p:txBody>
      </p:sp>
      <p:sp>
        <p:nvSpPr>
          <p:cNvPr id="20" name="Shape 4">
            <a:extLst>
              <a:ext uri="{FF2B5EF4-FFF2-40B4-BE49-F238E27FC236}">
                <a16:creationId xmlns:a16="http://schemas.microsoft.com/office/drawing/2014/main" id="{E405ECF2-302B-D227-AC76-BCB2D938E433}"/>
              </a:ext>
            </a:extLst>
          </p:cNvPr>
          <p:cNvSpPr/>
          <p:nvPr/>
        </p:nvSpPr>
        <p:spPr>
          <a:xfrm>
            <a:off x="6096000" y="3395234"/>
            <a:ext cx="4728249" cy="1350190"/>
          </a:xfrm>
          <a:prstGeom prst="roundRect">
            <a:avLst>
              <a:gd name="adj" fmla="val 4245"/>
            </a:avLst>
          </a:prstGeom>
          <a:solidFill>
            <a:schemeClr val="bg1">
              <a:lumMod val="95000"/>
            </a:schemeClr>
          </a:solidFill>
          <a:ln/>
          <a:effectLst>
            <a:outerShdw blurRad="50800" dist="38100" dir="2700000" algn="tl" rotWithShape="0">
              <a:prstClr val="black">
                <a:alpha val="40000"/>
              </a:prstClr>
            </a:outerShdw>
          </a:effectLst>
        </p:spPr>
        <p:txBody>
          <a:bodyPr/>
          <a:lstStyle/>
          <a:p>
            <a:endParaRPr lang="en-IN"/>
          </a:p>
        </p:txBody>
      </p:sp>
      <p:sp>
        <p:nvSpPr>
          <p:cNvPr id="23" name="Text 8">
            <a:extLst>
              <a:ext uri="{FF2B5EF4-FFF2-40B4-BE49-F238E27FC236}">
                <a16:creationId xmlns:a16="http://schemas.microsoft.com/office/drawing/2014/main" id="{B33B760B-5F21-DFE2-DD1C-9DF4259E7266}"/>
              </a:ext>
            </a:extLst>
          </p:cNvPr>
          <p:cNvSpPr/>
          <p:nvPr/>
        </p:nvSpPr>
        <p:spPr>
          <a:xfrm>
            <a:off x="6918958" y="3601687"/>
            <a:ext cx="3699643" cy="89198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t>Use ratings together with vote volume</a:t>
            </a:r>
            <a:r>
              <a:rPr lang="en-US" sz="1400" dirty="0"/>
              <a:t> when identifying content with strong audience engagement rather than relying on ratings alone.</a:t>
            </a:r>
          </a:p>
        </p:txBody>
      </p:sp>
      <p:sp>
        <p:nvSpPr>
          <p:cNvPr id="24" name="Shape 4">
            <a:extLst>
              <a:ext uri="{FF2B5EF4-FFF2-40B4-BE49-F238E27FC236}">
                <a16:creationId xmlns:a16="http://schemas.microsoft.com/office/drawing/2014/main" id="{F730E1E9-2234-1D54-50F2-18994CD226CB}"/>
              </a:ext>
            </a:extLst>
          </p:cNvPr>
          <p:cNvSpPr/>
          <p:nvPr/>
        </p:nvSpPr>
        <p:spPr>
          <a:xfrm>
            <a:off x="716110" y="5064200"/>
            <a:ext cx="4728249" cy="1350190"/>
          </a:xfrm>
          <a:prstGeom prst="roundRect">
            <a:avLst>
              <a:gd name="adj" fmla="val 4245"/>
            </a:avLst>
          </a:prstGeom>
          <a:solidFill>
            <a:schemeClr val="bg1">
              <a:lumMod val="95000"/>
            </a:schemeClr>
          </a:solidFill>
          <a:ln/>
          <a:effectLst>
            <a:outerShdw blurRad="50800" dist="38100" dir="2700000" algn="tl" rotWithShape="0">
              <a:prstClr val="black">
                <a:alpha val="40000"/>
              </a:prstClr>
            </a:outerShdw>
          </a:effectLst>
        </p:spPr>
        <p:txBody>
          <a:bodyPr/>
          <a:lstStyle/>
          <a:p>
            <a:endParaRPr lang="en-IN"/>
          </a:p>
        </p:txBody>
      </p:sp>
      <p:sp>
        <p:nvSpPr>
          <p:cNvPr id="25" name="Shape 5">
            <a:extLst>
              <a:ext uri="{FF2B5EF4-FFF2-40B4-BE49-F238E27FC236}">
                <a16:creationId xmlns:a16="http://schemas.microsoft.com/office/drawing/2014/main" id="{54B2BD39-031E-7489-D50E-F368A123D899}"/>
              </a:ext>
            </a:extLst>
          </p:cNvPr>
          <p:cNvSpPr/>
          <p:nvPr/>
        </p:nvSpPr>
        <p:spPr>
          <a:xfrm>
            <a:off x="917277" y="5255211"/>
            <a:ext cx="461483" cy="479006"/>
          </a:xfrm>
          <a:prstGeom prst="roundRect">
            <a:avLst>
              <a:gd name="adj" fmla="val 50000"/>
            </a:avLst>
          </a:prstGeom>
          <a:solidFill>
            <a:srgbClr val="EB0005"/>
          </a:solidFill>
          <a:ln/>
        </p:spPr>
        <p:txBody>
          <a:bodyPr/>
          <a:lstStyle/>
          <a:p>
            <a:pPr algn="ctr"/>
            <a:r>
              <a:rPr lang="en-IN" b="1" dirty="0">
                <a:solidFill>
                  <a:schemeClr val="bg1"/>
                </a:solidFill>
              </a:rPr>
              <a:t>3</a:t>
            </a:r>
          </a:p>
        </p:txBody>
      </p:sp>
      <p:sp>
        <p:nvSpPr>
          <p:cNvPr id="26" name="Text 7">
            <a:extLst>
              <a:ext uri="{FF2B5EF4-FFF2-40B4-BE49-F238E27FC236}">
                <a16:creationId xmlns:a16="http://schemas.microsoft.com/office/drawing/2014/main" id="{2091201C-0BD4-D8F9-3C91-B371C933543F}"/>
              </a:ext>
            </a:extLst>
          </p:cNvPr>
          <p:cNvSpPr/>
          <p:nvPr/>
        </p:nvSpPr>
        <p:spPr>
          <a:xfrm>
            <a:off x="1539069" y="5236923"/>
            <a:ext cx="2243791" cy="311493"/>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400" b="1" dirty="0"/>
              <a:t>Content Varity</a:t>
            </a:r>
            <a:endParaRPr lang="en-IN" sz="1400" dirty="0"/>
          </a:p>
        </p:txBody>
      </p:sp>
      <p:sp>
        <p:nvSpPr>
          <p:cNvPr id="27" name="Text 8">
            <a:extLst>
              <a:ext uri="{FF2B5EF4-FFF2-40B4-BE49-F238E27FC236}">
                <a16:creationId xmlns:a16="http://schemas.microsoft.com/office/drawing/2014/main" id="{F58A57BA-524C-B779-EB2A-FF2BDD7116C6}"/>
              </a:ext>
            </a:extLst>
          </p:cNvPr>
          <p:cNvSpPr/>
          <p:nvPr/>
        </p:nvSpPr>
        <p:spPr>
          <a:xfrm>
            <a:off x="1539069" y="5630712"/>
            <a:ext cx="3618230" cy="59085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Netflix has a diverse mix of movies and TV shows across multiple genres.</a:t>
            </a:r>
          </a:p>
        </p:txBody>
      </p:sp>
      <p:sp>
        <p:nvSpPr>
          <p:cNvPr id="28" name="Shape 4">
            <a:extLst>
              <a:ext uri="{FF2B5EF4-FFF2-40B4-BE49-F238E27FC236}">
                <a16:creationId xmlns:a16="http://schemas.microsoft.com/office/drawing/2014/main" id="{41C881BC-C0BB-83A1-6977-4DC5C9EEECC1}"/>
              </a:ext>
            </a:extLst>
          </p:cNvPr>
          <p:cNvSpPr/>
          <p:nvPr/>
        </p:nvSpPr>
        <p:spPr>
          <a:xfrm>
            <a:off x="6096000" y="5108875"/>
            <a:ext cx="4728249" cy="1350190"/>
          </a:xfrm>
          <a:prstGeom prst="roundRect">
            <a:avLst>
              <a:gd name="adj" fmla="val 4245"/>
            </a:avLst>
          </a:prstGeom>
          <a:solidFill>
            <a:schemeClr val="bg1">
              <a:lumMod val="95000"/>
            </a:schemeClr>
          </a:solidFill>
          <a:ln/>
          <a:effectLst>
            <a:outerShdw blurRad="50800" dist="38100" dir="2700000" algn="tl" rotWithShape="0">
              <a:prstClr val="black">
                <a:alpha val="40000"/>
              </a:prstClr>
            </a:outerShdw>
          </a:effectLst>
        </p:spPr>
        <p:txBody>
          <a:bodyPr/>
          <a:lstStyle/>
          <a:p>
            <a:endParaRPr lang="en-IN"/>
          </a:p>
        </p:txBody>
      </p:sp>
      <p:sp>
        <p:nvSpPr>
          <p:cNvPr id="31" name="Text 8">
            <a:extLst>
              <a:ext uri="{FF2B5EF4-FFF2-40B4-BE49-F238E27FC236}">
                <a16:creationId xmlns:a16="http://schemas.microsoft.com/office/drawing/2014/main" id="{4576FAA6-D11E-FC01-C577-79B9BB8ADCFF}"/>
              </a:ext>
            </a:extLst>
          </p:cNvPr>
          <p:cNvSpPr/>
          <p:nvPr/>
        </p:nvSpPr>
        <p:spPr>
          <a:xfrm>
            <a:off x="6918958" y="5267927"/>
            <a:ext cx="3699643" cy="93938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t>Maintain content diversity while focusing investment on genres and content types that demonstrate stronger audience engagement.</a:t>
            </a:r>
          </a:p>
        </p:txBody>
      </p:sp>
      <p:sp>
        <p:nvSpPr>
          <p:cNvPr id="33" name="Slide Number Placeholder 4">
            <a:extLst>
              <a:ext uri="{FF2B5EF4-FFF2-40B4-BE49-F238E27FC236}">
                <a16:creationId xmlns:a16="http://schemas.microsoft.com/office/drawing/2014/main" id="{D992566C-D1C9-1EC1-1873-D5744356AB89}"/>
              </a:ext>
            </a:extLst>
          </p:cNvPr>
          <p:cNvSpPr txBox="1">
            <a:spLocks/>
          </p:cNvSpPr>
          <p:nvPr/>
        </p:nvSpPr>
        <p:spPr>
          <a:xfrm>
            <a:off x="11194169" y="6217920"/>
            <a:ext cx="458592"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FEACEE-25B4-4A2D-B147-27296E36371D}" type="slidenum">
              <a:rPr lang="en-US" altLang="zh-CN" sz="1400" smtClean="0"/>
              <a:pPr/>
              <a:t>12</a:t>
            </a:fld>
            <a:endParaRPr lang="en-US" altLang="zh-CN" sz="1400" dirty="0"/>
          </a:p>
        </p:txBody>
      </p:sp>
      <p:sp>
        <p:nvSpPr>
          <p:cNvPr id="2" name="Title 45">
            <a:extLst>
              <a:ext uri="{FF2B5EF4-FFF2-40B4-BE49-F238E27FC236}">
                <a16:creationId xmlns:a16="http://schemas.microsoft.com/office/drawing/2014/main" id="{1D7881DD-F5F3-4C69-D3F8-C3F2A632B410}"/>
              </a:ext>
            </a:extLst>
          </p:cNvPr>
          <p:cNvSpPr txBox="1">
            <a:spLocks/>
          </p:cNvSpPr>
          <p:nvPr/>
        </p:nvSpPr>
        <p:spPr>
          <a:xfrm>
            <a:off x="716110" y="1019516"/>
            <a:ext cx="2722434" cy="52384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a:lstStyle>
          <a:p>
            <a:r>
              <a:rPr lang="en-US" sz="2400" dirty="0"/>
              <a:t>Key Insights </a:t>
            </a:r>
          </a:p>
        </p:txBody>
      </p:sp>
      <p:cxnSp>
        <p:nvCxnSpPr>
          <p:cNvPr id="5" name="Straight Connector 4">
            <a:extLst>
              <a:ext uri="{FF2B5EF4-FFF2-40B4-BE49-F238E27FC236}">
                <a16:creationId xmlns:a16="http://schemas.microsoft.com/office/drawing/2014/main" id="{4C654869-FA14-B4BA-776D-51FB6BC5A702}"/>
              </a:ext>
            </a:extLst>
          </p:cNvPr>
          <p:cNvCxnSpPr/>
          <p:nvPr/>
        </p:nvCxnSpPr>
        <p:spPr>
          <a:xfrm>
            <a:off x="821165" y="807746"/>
            <a:ext cx="3094882" cy="0"/>
          </a:xfrm>
          <a:prstGeom prst="line">
            <a:avLst/>
          </a:prstGeom>
          <a:ln w="57150">
            <a:solidFill>
              <a:srgbClr val="D2141E"/>
            </a:solidFill>
          </a:ln>
        </p:spPr>
        <p:style>
          <a:lnRef idx="1">
            <a:schemeClr val="accent1"/>
          </a:lnRef>
          <a:fillRef idx="0">
            <a:schemeClr val="accent1"/>
          </a:fillRef>
          <a:effectRef idx="0">
            <a:schemeClr val="accent1"/>
          </a:effectRef>
          <a:fontRef idx="minor">
            <a:schemeClr val="tx1"/>
          </a:fontRef>
        </p:style>
      </p:cxnSp>
      <p:sp>
        <p:nvSpPr>
          <p:cNvPr id="6" name="Title 45">
            <a:extLst>
              <a:ext uri="{FF2B5EF4-FFF2-40B4-BE49-F238E27FC236}">
                <a16:creationId xmlns:a16="http://schemas.microsoft.com/office/drawing/2014/main" id="{17F28D30-47D9-2D0A-3571-8C407209CE6D}"/>
              </a:ext>
            </a:extLst>
          </p:cNvPr>
          <p:cNvSpPr txBox="1">
            <a:spLocks/>
          </p:cNvSpPr>
          <p:nvPr/>
        </p:nvSpPr>
        <p:spPr>
          <a:xfrm>
            <a:off x="6267318" y="1005427"/>
            <a:ext cx="3347890" cy="52384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a:lstStyle>
          <a:p>
            <a:r>
              <a:rPr lang="en-US" sz="2400" dirty="0"/>
              <a:t>Recommendation</a:t>
            </a:r>
          </a:p>
        </p:txBody>
      </p:sp>
      <p:sp>
        <p:nvSpPr>
          <p:cNvPr id="34" name="Rectangle 33">
            <a:extLst>
              <a:ext uri="{FF2B5EF4-FFF2-40B4-BE49-F238E27FC236}">
                <a16:creationId xmlns:a16="http://schemas.microsoft.com/office/drawing/2014/main" id="{1CCF3DF8-A7DD-722A-6001-6B941C8A04DD}"/>
              </a:ext>
            </a:extLst>
          </p:cNvPr>
          <p:cNvSpPr/>
          <p:nvPr/>
        </p:nvSpPr>
        <p:spPr>
          <a:xfrm>
            <a:off x="6115295" y="1608793"/>
            <a:ext cx="323340" cy="1391352"/>
          </a:xfrm>
          <a:prstGeom prst="rect">
            <a:avLst/>
          </a:prstGeom>
          <a:gradFill flip="none" rotWithShape="1">
            <a:gsLst>
              <a:gs pos="0">
                <a:srgbClr val="334D6A">
                  <a:shade val="30000"/>
                  <a:satMod val="115000"/>
                </a:srgbClr>
              </a:gs>
              <a:gs pos="50000">
                <a:srgbClr val="334D6A">
                  <a:shade val="67500"/>
                  <a:satMod val="115000"/>
                </a:srgbClr>
              </a:gs>
              <a:gs pos="100000">
                <a:srgbClr val="334D6A">
                  <a:shade val="100000"/>
                  <a:satMod val="115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sp>
        <p:nvSpPr>
          <p:cNvPr id="35" name="Rectangle 34">
            <a:extLst>
              <a:ext uri="{FF2B5EF4-FFF2-40B4-BE49-F238E27FC236}">
                <a16:creationId xmlns:a16="http://schemas.microsoft.com/office/drawing/2014/main" id="{CE6A42A7-08AB-17CB-4479-F99F583453F4}"/>
              </a:ext>
            </a:extLst>
          </p:cNvPr>
          <p:cNvSpPr/>
          <p:nvPr/>
        </p:nvSpPr>
        <p:spPr>
          <a:xfrm>
            <a:off x="6115295" y="3394149"/>
            <a:ext cx="323340" cy="1391352"/>
          </a:xfrm>
          <a:prstGeom prst="rect">
            <a:avLst/>
          </a:prstGeom>
          <a:gradFill flip="none" rotWithShape="1">
            <a:gsLst>
              <a:gs pos="0">
                <a:srgbClr val="334D6A">
                  <a:shade val="30000"/>
                  <a:satMod val="115000"/>
                </a:srgbClr>
              </a:gs>
              <a:gs pos="50000">
                <a:srgbClr val="334D6A">
                  <a:shade val="67500"/>
                  <a:satMod val="115000"/>
                </a:srgbClr>
              </a:gs>
              <a:gs pos="100000">
                <a:srgbClr val="334D6A">
                  <a:shade val="100000"/>
                  <a:satMod val="115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sp>
        <p:nvSpPr>
          <p:cNvPr id="36" name="Rectangle 35">
            <a:extLst>
              <a:ext uri="{FF2B5EF4-FFF2-40B4-BE49-F238E27FC236}">
                <a16:creationId xmlns:a16="http://schemas.microsoft.com/office/drawing/2014/main" id="{486AE96D-AF35-FF47-D9FA-857AB6C81757}"/>
              </a:ext>
            </a:extLst>
          </p:cNvPr>
          <p:cNvSpPr/>
          <p:nvPr/>
        </p:nvSpPr>
        <p:spPr>
          <a:xfrm>
            <a:off x="6105648" y="5079407"/>
            <a:ext cx="323340" cy="1391352"/>
          </a:xfrm>
          <a:prstGeom prst="rect">
            <a:avLst/>
          </a:prstGeom>
          <a:gradFill flip="none" rotWithShape="1">
            <a:gsLst>
              <a:gs pos="0">
                <a:srgbClr val="334D6A">
                  <a:shade val="30000"/>
                  <a:satMod val="115000"/>
                </a:srgbClr>
              </a:gs>
              <a:gs pos="50000">
                <a:srgbClr val="334D6A">
                  <a:shade val="67500"/>
                  <a:satMod val="115000"/>
                </a:srgbClr>
              </a:gs>
              <a:gs pos="100000">
                <a:srgbClr val="334D6A">
                  <a:shade val="100000"/>
                  <a:satMod val="115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spTree>
    <p:extLst>
      <p:ext uri="{BB962C8B-B14F-4D97-AF65-F5344CB8AC3E}">
        <p14:creationId xmlns:p14="http://schemas.microsoft.com/office/powerpoint/2010/main" val="2478079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EC52EE6-79FC-AB2A-260E-54DF24209F3F}"/>
              </a:ext>
            </a:extLst>
          </p:cNvPr>
          <p:cNvSpPr/>
          <p:nvPr/>
        </p:nvSpPr>
        <p:spPr>
          <a:xfrm>
            <a:off x="0" y="0"/>
            <a:ext cx="12191695" cy="685800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sp>
        <p:nvSpPr>
          <p:cNvPr id="2" name="Title 1">
            <a:extLst>
              <a:ext uri="{FF2B5EF4-FFF2-40B4-BE49-F238E27FC236}">
                <a16:creationId xmlns:a16="http://schemas.microsoft.com/office/drawing/2014/main" id="{82BC5DFE-DA65-C1D3-FF87-F6C81F3F5790}"/>
              </a:ext>
            </a:extLst>
          </p:cNvPr>
          <p:cNvSpPr>
            <a:spLocks noGrp="1"/>
          </p:cNvSpPr>
          <p:nvPr>
            <p:ph type="title"/>
          </p:nvPr>
        </p:nvSpPr>
        <p:spPr>
          <a:xfrm>
            <a:off x="642739" y="417806"/>
            <a:ext cx="4518122" cy="843941"/>
          </a:xfrm>
        </p:spPr>
        <p:txBody>
          <a:bodyPr/>
          <a:lstStyle/>
          <a:p>
            <a:r>
              <a:rPr lang="en-IN" sz="3600" dirty="0">
                <a:solidFill>
                  <a:srgbClr val="EB0005"/>
                </a:solidFill>
              </a:rPr>
              <a:t>Summary</a:t>
            </a:r>
          </a:p>
        </p:txBody>
      </p:sp>
      <p:sp>
        <p:nvSpPr>
          <p:cNvPr id="3" name="Text Placeholder 2">
            <a:extLst>
              <a:ext uri="{FF2B5EF4-FFF2-40B4-BE49-F238E27FC236}">
                <a16:creationId xmlns:a16="http://schemas.microsoft.com/office/drawing/2014/main" id="{AB2B5EB4-2071-11B4-0EF4-70F58DFEDE91}"/>
              </a:ext>
            </a:extLst>
          </p:cNvPr>
          <p:cNvSpPr>
            <a:spLocks noGrp="1"/>
          </p:cNvSpPr>
          <p:nvPr>
            <p:ph type="body" sz="quarter" idx="29"/>
          </p:nvPr>
        </p:nvSpPr>
        <p:spPr>
          <a:xfrm>
            <a:off x="581148" y="1443030"/>
            <a:ext cx="10187544" cy="4575193"/>
          </a:xfrm>
        </p:spPr>
        <p:txBody>
          <a:bodyPr/>
          <a:lstStyle/>
          <a:p>
            <a:pPr marL="285750" indent="-285750">
              <a:lnSpc>
                <a:spcPct val="200000"/>
              </a:lnSpc>
              <a:buClr>
                <a:srgbClr val="C00000"/>
              </a:buClr>
              <a:buSzPct val="200000"/>
              <a:buFont typeface="Arial" panose="020B0604020202020204" pitchFamily="34" charset="0"/>
              <a:buChar char="•"/>
            </a:pPr>
            <a:r>
              <a:rPr lang="en-US" sz="1400" b="1" dirty="0">
                <a:solidFill>
                  <a:schemeClr val="bg1"/>
                </a:solidFill>
              </a:rPr>
              <a:t> Data Preparation:</a:t>
            </a:r>
            <a:r>
              <a:rPr lang="en-US" sz="1400" dirty="0">
                <a:solidFill>
                  <a:schemeClr val="bg1"/>
                </a:solidFill>
              </a:rPr>
              <a:t> Cleaned and organized the dataset, handled data types, and prepared the data for analysis.</a:t>
            </a:r>
          </a:p>
          <a:p>
            <a:pPr marL="285750" indent="-285750">
              <a:lnSpc>
                <a:spcPct val="200000"/>
              </a:lnSpc>
              <a:buClr>
                <a:srgbClr val="C00000"/>
              </a:buClr>
              <a:buSzPct val="200000"/>
              <a:buFont typeface="Arial" panose="020B0604020202020204" pitchFamily="34" charset="0"/>
              <a:buChar char="•"/>
            </a:pPr>
            <a:r>
              <a:rPr lang="en-US" sz="1400" b="1" dirty="0">
                <a:solidFill>
                  <a:schemeClr val="bg1"/>
                </a:solidFill>
              </a:rPr>
              <a:t> Calculated Columns:</a:t>
            </a:r>
            <a:r>
              <a:rPr lang="en-US" sz="1400" dirty="0">
                <a:solidFill>
                  <a:schemeClr val="bg1"/>
                </a:solidFill>
              </a:rPr>
              <a:t> Created useful analytical fields such as Release Decade, Content Age, Runtime Category, Rating Category, TMDB Rating Category, Popularity Category, and Rating Percentage.</a:t>
            </a:r>
          </a:p>
          <a:p>
            <a:pPr marL="285750" indent="-285750">
              <a:lnSpc>
                <a:spcPct val="200000"/>
              </a:lnSpc>
              <a:buClr>
                <a:srgbClr val="C00000"/>
              </a:buClr>
              <a:buSzPct val="200000"/>
              <a:buFont typeface="Arial" panose="020B0604020202020204" pitchFamily="34" charset="0"/>
              <a:buChar char="•"/>
            </a:pPr>
            <a:r>
              <a:rPr lang="en-US" sz="1400" b="1" dirty="0">
                <a:solidFill>
                  <a:schemeClr val="bg1"/>
                </a:solidFill>
              </a:rPr>
              <a:t> Content Analysis:</a:t>
            </a:r>
            <a:r>
              <a:rPr lang="en-US" sz="1400" dirty="0">
                <a:solidFill>
                  <a:schemeClr val="bg1"/>
                </a:solidFill>
              </a:rPr>
              <a:t> Analyzed movies and TV shows across genres, release years, and runtime categories.</a:t>
            </a:r>
          </a:p>
          <a:p>
            <a:pPr marL="285750" indent="-285750">
              <a:lnSpc>
                <a:spcPct val="200000"/>
              </a:lnSpc>
              <a:buClr>
                <a:srgbClr val="C00000"/>
              </a:buClr>
              <a:buSzPct val="200000"/>
              <a:buFont typeface="Arial" panose="020B0604020202020204" pitchFamily="34" charset="0"/>
              <a:buChar char="•"/>
            </a:pPr>
            <a:r>
              <a:rPr lang="en-US" sz="1400" b="1" dirty="0">
                <a:solidFill>
                  <a:schemeClr val="bg1"/>
                </a:solidFill>
              </a:rPr>
              <a:t> Rating &amp; Popularity Analysis:</a:t>
            </a:r>
            <a:r>
              <a:rPr lang="en-US" sz="1400" dirty="0">
                <a:solidFill>
                  <a:schemeClr val="bg1"/>
                </a:solidFill>
              </a:rPr>
              <a:t> Compared IMDb and TMDB ratings with audience engagement and popularity indicators.</a:t>
            </a:r>
          </a:p>
          <a:p>
            <a:pPr marL="285750" indent="-285750">
              <a:lnSpc>
                <a:spcPct val="200000"/>
              </a:lnSpc>
              <a:buClr>
                <a:srgbClr val="C00000"/>
              </a:buClr>
              <a:buSzPct val="200000"/>
              <a:buFont typeface="Arial" panose="020B0604020202020204" pitchFamily="34" charset="0"/>
              <a:buChar char="•"/>
            </a:pPr>
            <a:r>
              <a:rPr lang="en-US" sz="1400" b="1" dirty="0">
                <a:solidFill>
                  <a:schemeClr val="bg1"/>
                </a:solidFill>
              </a:rPr>
              <a:t> Dashboard Development:</a:t>
            </a:r>
            <a:r>
              <a:rPr lang="en-US" sz="1400" dirty="0">
                <a:solidFill>
                  <a:schemeClr val="bg1"/>
                </a:solidFill>
              </a:rPr>
              <a:t> Created KPIs, PivotTables, charts, and slicers to make the analysis interactive and easy to understand.</a:t>
            </a:r>
          </a:p>
          <a:p>
            <a:pPr marL="285750" indent="-285750">
              <a:lnSpc>
                <a:spcPct val="200000"/>
              </a:lnSpc>
              <a:buClr>
                <a:srgbClr val="C00000"/>
              </a:buClr>
              <a:buSzPct val="200000"/>
              <a:buFont typeface="Arial" panose="020B0604020202020204" pitchFamily="34" charset="0"/>
              <a:buChar char="•"/>
            </a:pPr>
            <a:r>
              <a:rPr lang="en-US" sz="1400" b="1" dirty="0">
                <a:solidFill>
                  <a:schemeClr val="bg1"/>
                </a:solidFill>
              </a:rPr>
              <a:t> Business Value:</a:t>
            </a:r>
            <a:r>
              <a:rPr lang="en-US" sz="1400" dirty="0">
                <a:solidFill>
                  <a:schemeClr val="bg1"/>
                </a:solidFill>
              </a:rPr>
              <a:t> The dashboard provides a clear view of Netflix's content distribution, quality, popularity, and release trends, helping identify patterns and areas of audience interest.</a:t>
            </a:r>
          </a:p>
          <a:p>
            <a:pPr>
              <a:lnSpc>
                <a:spcPct val="200000"/>
              </a:lnSpc>
            </a:pPr>
            <a:endParaRPr lang="en-IN" sz="1400" dirty="0">
              <a:solidFill>
                <a:schemeClr val="bg1"/>
              </a:solidFill>
            </a:endParaRPr>
          </a:p>
        </p:txBody>
      </p:sp>
      <p:sp>
        <p:nvSpPr>
          <p:cNvPr id="4" name="Footer Placeholder 3">
            <a:extLst>
              <a:ext uri="{FF2B5EF4-FFF2-40B4-BE49-F238E27FC236}">
                <a16:creationId xmlns:a16="http://schemas.microsoft.com/office/drawing/2014/main" id="{35F1EA6C-66A4-3754-1439-E5B5B746F2CB}"/>
              </a:ext>
            </a:extLst>
          </p:cNvPr>
          <p:cNvSpPr>
            <a:spLocks noGrp="1"/>
          </p:cNvSpPr>
          <p:nvPr>
            <p:ph type="ftr" sz="quarter" idx="30"/>
          </p:nvPr>
        </p:nvSpPr>
        <p:spPr/>
        <p:txBody>
          <a:bodyPr/>
          <a:lstStyle/>
          <a:p>
            <a:r>
              <a:rPr lang="en-IN" dirty="0">
                <a:solidFill>
                  <a:schemeClr val="bg1">
                    <a:lumMod val="75000"/>
                  </a:schemeClr>
                </a:solidFill>
              </a:rPr>
              <a:t>Netflix Content Analytics | Excel Dashboard</a:t>
            </a:r>
            <a:endParaRPr lang="en-US" noProof="0" dirty="0">
              <a:solidFill>
                <a:schemeClr val="bg1">
                  <a:lumMod val="75000"/>
                </a:schemeClr>
              </a:solidFill>
            </a:endParaRPr>
          </a:p>
        </p:txBody>
      </p:sp>
      <p:sp>
        <p:nvSpPr>
          <p:cNvPr id="5" name="Slide Number Placeholder 4">
            <a:extLst>
              <a:ext uri="{FF2B5EF4-FFF2-40B4-BE49-F238E27FC236}">
                <a16:creationId xmlns:a16="http://schemas.microsoft.com/office/drawing/2014/main" id="{8B99FCB2-8FD7-56BD-C242-1C6745E49810}"/>
              </a:ext>
            </a:extLst>
          </p:cNvPr>
          <p:cNvSpPr>
            <a:spLocks noGrp="1"/>
          </p:cNvSpPr>
          <p:nvPr>
            <p:ph type="sldNum" sz="quarter" idx="31"/>
          </p:nvPr>
        </p:nvSpPr>
        <p:spPr/>
        <p:txBody>
          <a:bodyPr/>
          <a:lstStyle/>
          <a:p>
            <a:fld id="{47FEACEE-25B4-4A2D-B147-27296E36371D}" type="slidenum">
              <a:rPr lang="en-US" altLang="zh-CN" noProof="0" smtClean="0">
                <a:solidFill>
                  <a:schemeClr val="bg1"/>
                </a:solidFill>
              </a:rPr>
              <a:pPr/>
              <a:t>13</a:t>
            </a:fld>
            <a:endParaRPr lang="en-US" altLang="zh-CN" noProof="0" dirty="0">
              <a:solidFill>
                <a:schemeClr val="bg1"/>
              </a:solidFill>
            </a:endParaRPr>
          </a:p>
        </p:txBody>
      </p:sp>
      <p:sp>
        <p:nvSpPr>
          <p:cNvPr id="9" name="Freeform: Shape 11">
            <a:extLst>
              <a:ext uri="{FF2B5EF4-FFF2-40B4-BE49-F238E27FC236}">
                <a16:creationId xmlns:a16="http://schemas.microsoft.com/office/drawing/2014/main" id="{4294E11A-6EC7-CD69-FDA8-6BAE75FB0794}"/>
              </a:ext>
              <a:ext uri="{C183D7F6-B498-43B3-948B-1728B52AA6E4}">
                <adec:decorative xmlns:adec="http://schemas.microsoft.com/office/drawing/2017/decorative" val="1"/>
              </a:ext>
            </a:extLst>
          </p:cNvPr>
          <p:cNvSpPr/>
          <p:nvPr/>
        </p:nvSpPr>
        <p:spPr>
          <a:xfrm>
            <a:off x="10000157" y="17209"/>
            <a:ext cx="2180147" cy="226622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rgbClr val="FF0000">
              <a:alpha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0" name="Freeform: Shape 11">
            <a:extLst>
              <a:ext uri="{FF2B5EF4-FFF2-40B4-BE49-F238E27FC236}">
                <a16:creationId xmlns:a16="http://schemas.microsoft.com/office/drawing/2014/main" id="{8A5E3307-2F8A-914B-1BAD-BF4B2A0B4F7C}"/>
              </a:ext>
              <a:ext uri="{C183D7F6-B498-43B3-948B-1728B52AA6E4}">
                <adec:decorative xmlns:adec="http://schemas.microsoft.com/office/drawing/2017/decorative" val="1"/>
              </a:ext>
            </a:extLst>
          </p:cNvPr>
          <p:cNvSpPr/>
          <p:nvPr/>
        </p:nvSpPr>
        <p:spPr>
          <a:xfrm>
            <a:off x="11194169" y="1996356"/>
            <a:ext cx="1277875" cy="1237507"/>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rgbClr val="FABE79">
              <a:alpha val="33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1" name="Freeform: Shape 11">
            <a:extLst>
              <a:ext uri="{FF2B5EF4-FFF2-40B4-BE49-F238E27FC236}">
                <a16:creationId xmlns:a16="http://schemas.microsoft.com/office/drawing/2014/main" id="{3F64A28A-12A3-3185-2FA9-EBEBD6871099}"/>
              </a:ext>
              <a:ext uri="{C183D7F6-B498-43B3-948B-1728B52AA6E4}">
                <adec:decorative xmlns:adec="http://schemas.microsoft.com/office/drawing/2017/decorative" val="1"/>
              </a:ext>
            </a:extLst>
          </p:cNvPr>
          <p:cNvSpPr/>
          <p:nvPr/>
        </p:nvSpPr>
        <p:spPr>
          <a:xfrm>
            <a:off x="10768692" y="3011172"/>
            <a:ext cx="877756" cy="807947"/>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2700" cap="flat" cmpd="sng" algn="ctr">
            <a:solidFill>
              <a:schemeClr val="bg1">
                <a:alpha val="64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9395280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13663CA-BA5A-41E7-1FBE-D38846DFEF75}"/>
              </a:ext>
            </a:extLst>
          </p:cNvPr>
          <p:cNvSpPr>
            <a:spLocks noGrp="1"/>
          </p:cNvSpPr>
          <p:nvPr>
            <p:ph type="title"/>
          </p:nvPr>
        </p:nvSpPr>
        <p:spPr>
          <a:xfrm>
            <a:off x="5408014" y="606515"/>
            <a:ext cx="4707702" cy="802499"/>
          </a:xfrm>
        </p:spPr>
        <p:txBody>
          <a:bodyPr/>
          <a:lstStyle/>
          <a:p>
            <a:r>
              <a:rPr lang="en-US" sz="4000" dirty="0"/>
              <a:t>Conclusion</a:t>
            </a:r>
          </a:p>
        </p:txBody>
      </p:sp>
      <p:sp>
        <p:nvSpPr>
          <p:cNvPr id="11" name="Text Placeholder 10">
            <a:extLst>
              <a:ext uri="{FF2B5EF4-FFF2-40B4-BE49-F238E27FC236}">
                <a16:creationId xmlns:a16="http://schemas.microsoft.com/office/drawing/2014/main" id="{02CEC6EF-006F-693B-5D79-47FD797CB22B}"/>
              </a:ext>
            </a:extLst>
          </p:cNvPr>
          <p:cNvSpPr>
            <a:spLocks noGrp="1"/>
          </p:cNvSpPr>
          <p:nvPr>
            <p:ph type="body" sz="quarter" idx="29"/>
          </p:nvPr>
        </p:nvSpPr>
        <p:spPr>
          <a:xfrm>
            <a:off x="5408014" y="1782825"/>
            <a:ext cx="5864492" cy="3792906"/>
          </a:xfrm>
        </p:spPr>
        <p:txBody>
          <a:bodyPr/>
          <a:lstStyle/>
          <a:p>
            <a:pPr>
              <a:spcAft>
                <a:spcPts val="1200"/>
              </a:spcAft>
              <a:defRPr sz="2100" b="0">
                <a:solidFill>
                  <a:srgbClr val="FFFFFF"/>
                </a:solidFill>
              </a:defRPr>
            </a:pPr>
            <a:r>
              <a:rPr lang="en-US" sz="2000" dirty="0">
                <a:solidFill>
                  <a:schemeClr val="tx1">
                    <a:lumMod val="95000"/>
                    <a:lumOff val="5000"/>
                  </a:schemeClr>
                </a:solidFill>
              </a:rPr>
              <a:t>Overall, this project demonstrated how Excel can be used to transform raw Netflix content data into an interactive and meaningful analytical dashboard. The analysis provided insights into content distribution, ratings, audience engagement, popularity, and runtime patterns. Through this project, I gained practical experience in the complete data analytics workflow—from data cleaning and transformation to visualization and insight generation.</a:t>
            </a:r>
            <a:endParaRPr lang="en-US" sz="2800" dirty="0">
              <a:solidFill>
                <a:schemeClr val="tx1">
                  <a:lumMod val="95000"/>
                  <a:lumOff val="5000"/>
                </a:schemeClr>
              </a:solidFill>
            </a:endParaRPr>
          </a:p>
        </p:txBody>
      </p:sp>
      <p:sp>
        <p:nvSpPr>
          <p:cNvPr id="4" name="Footer Placeholder 3">
            <a:extLst>
              <a:ext uri="{FF2B5EF4-FFF2-40B4-BE49-F238E27FC236}">
                <a16:creationId xmlns:a16="http://schemas.microsoft.com/office/drawing/2014/main" id="{8A610345-FF40-D90A-5C88-A462A10E487B}"/>
              </a:ext>
            </a:extLst>
          </p:cNvPr>
          <p:cNvSpPr>
            <a:spLocks noGrp="1"/>
          </p:cNvSpPr>
          <p:nvPr>
            <p:ph type="ftr" sz="quarter" idx="30"/>
          </p:nvPr>
        </p:nvSpPr>
        <p:spPr/>
        <p:txBody>
          <a:bodyPr/>
          <a:lstStyle/>
          <a:p>
            <a:r>
              <a:rPr lang="en-IN" dirty="0"/>
              <a:t>Netflix Content Analytics | Excel Dashboard</a:t>
            </a:r>
            <a:endParaRPr lang="en-US" noProof="0" dirty="0"/>
          </a:p>
        </p:txBody>
      </p:sp>
      <p:sp>
        <p:nvSpPr>
          <p:cNvPr id="5" name="Slide Number Placeholder 4">
            <a:extLst>
              <a:ext uri="{FF2B5EF4-FFF2-40B4-BE49-F238E27FC236}">
                <a16:creationId xmlns:a16="http://schemas.microsoft.com/office/drawing/2014/main" id="{E31C7500-E032-DBB5-A780-8247E3B7367B}"/>
              </a:ext>
            </a:extLst>
          </p:cNvPr>
          <p:cNvSpPr>
            <a:spLocks noGrp="1"/>
          </p:cNvSpPr>
          <p:nvPr>
            <p:ph type="sldNum" sz="quarter" idx="31"/>
          </p:nvPr>
        </p:nvSpPr>
        <p:spPr/>
        <p:txBody>
          <a:bodyPr/>
          <a:lstStyle/>
          <a:p>
            <a:fld id="{47FEACEE-25B4-4A2D-B147-27296E36371D}" type="slidenum">
              <a:rPr lang="en-US" altLang="zh-CN" noProof="0" smtClean="0"/>
              <a:pPr/>
              <a:t>14</a:t>
            </a:fld>
            <a:endParaRPr lang="en-US" altLang="zh-CN" noProof="0" dirty="0"/>
          </a:p>
        </p:txBody>
      </p:sp>
      <p:sp>
        <p:nvSpPr>
          <p:cNvPr id="2" name="Freeform: Shape 11">
            <a:extLst>
              <a:ext uri="{FF2B5EF4-FFF2-40B4-BE49-F238E27FC236}">
                <a16:creationId xmlns:a16="http://schemas.microsoft.com/office/drawing/2014/main" id="{527786EC-B07E-8578-5ADE-47F6E2A2EB5B}"/>
              </a:ext>
              <a:ext uri="{C183D7F6-B498-43B3-948B-1728B52AA6E4}">
                <adec:decorative xmlns:adec="http://schemas.microsoft.com/office/drawing/2017/decorative" val="1"/>
              </a:ext>
            </a:extLst>
          </p:cNvPr>
          <p:cNvSpPr/>
          <p:nvPr/>
        </p:nvSpPr>
        <p:spPr>
          <a:xfrm>
            <a:off x="1219200" y="1409014"/>
            <a:ext cx="2885440" cy="329506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rgbClr val="EB000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reeform: Shape 11">
            <a:extLst>
              <a:ext uri="{FF2B5EF4-FFF2-40B4-BE49-F238E27FC236}">
                <a16:creationId xmlns:a16="http://schemas.microsoft.com/office/drawing/2014/main" id="{44EF7F7F-574E-6A9E-A32C-14EACAA38755}"/>
              </a:ext>
              <a:ext uri="{C183D7F6-B498-43B3-948B-1728B52AA6E4}">
                <adec:decorative xmlns:adec="http://schemas.microsoft.com/office/drawing/2017/decorative" val="1"/>
              </a:ext>
            </a:extLst>
          </p:cNvPr>
          <p:cNvSpPr/>
          <p:nvPr/>
        </p:nvSpPr>
        <p:spPr>
          <a:xfrm>
            <a:off x="758093" y="3458308"/>
            <a:ext cx="1209040" cy="139113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tx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29559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FDF4C22-C8C5-C933-F77A-1E8CBED4E8CB}"/>
              </a:ext>
            </a:extLst>
          </p:cNvPr>
          <p:cNvSpPr/>
          <p:nvPr/>
        </p:nvSpPr>
        <p:spPr>
          <a:xfrm>
            <a:off x="0" y="2637141"/>
            <a:ext cx="12191695" cy="4355902"/>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512560" y="2232308"/>
            <a:ext cx="5212080" cy="1325563"/>
          </a:xfrm>
        </p:spPr>
        <p:txBody>
          <a:bodyPr/>
          <a:lstStyle/>
          <a:p>
            <a:r>
              <a:rPr lang="en-US" sz="5400" dirty="0">
                <a:solidFill>
                  <a:schemeClr val="bg1"/>
                </a:solidFill>
              </a:rPr>
              <a:t>Thank you</a:t>
            </a:r>
          </a:p>
        </p:txBody>
      </p:sp>
      <p:pic>
        <p:nvPicPr>
          <p:cNvPr id="14" name="Picture Placeholder 13">
            <a:extLst>
              <a:ext uri="{FF2B5EF4-FFF2-40B4-BE49-F238E27FC236}">
                <a16:creationId xmlns:a16="http://schemas.microsoft.com/office/drawing/2014/main" id="{496155F4-61B2-441D-9F16-788866450DA2}"/>
              </a:ext>
            </a:extLst>
          </p:cNvPr>
          <p:cNvPicPr>
            <a:picLocks noGrp="1" noChangeAspect="1"/>
          </p:cNvPicPr>
          <p:nvPr>
            <p:ph type="pic" sz="quarter" idx="49"/>
          </p:nvPr>
        </p:nvPicPr>
        <p:blipFill rotWithShape="1">
          <a:blip r:embed="rId3"/>
          <a:srcRect/>
          <a:stretch/>
        </p:blipFill>
        <p:spPr/>
      </p:pic>
      <p:pic>
        <p:nvPicPr>
          <p:cNvPr id="16" name="Picture Placeholder 15">
            <a:extLst>
              <a:ext uri="{FF2B5EF4-FFF2-40B4-BE49-F238E27FC236}">
                <a16:creationId xmlns:a16="http://schemas.microsoft.com/office/drawing/2014/main" id="{BCD5762E-DD49-42B3-9CA8-46A4AD7193E2}"/>
              </a:ext>
            </a:extLst>
          </p:cNvPr>
          <p:cNvPicPr>
            <a:picLocks noGrp="1" noChangeAspect="1"/>
          </p:cNvPicPr>
          <p:nvPr>
            <p:ph type="pic" sz="quarter" idx="48"/>
          </p:nvPr>
        </p:nvPicPr>
        <p:blipFill rotWithShape="1">
          <a:blip r:embed="rId4"/>
          <a:srcRect/>
          <a:stretch/>
        </p:blipFill>
        <p:spPr>
          <a:xfrm>
            <a:off x="2754948" y="2502098"/>
            <a:ext cx="1465840" cy="1289394"/>
          </a:xfrm>
        </p:spPr>
      </p:pic>
      <p:pic>
        <p:nvPicPr>
          <p:cNvPr id="18" name="Picture Placeholder 17">
            <a:extLst>
              <a:ext uri="{FF2B5EF4-FFF2-40B4-BE49-F238E27FC236}">
                <a16:creationId xmlns:a16="http://schemas.microsoft.com/office/drawing/2014/main" id="{1051CD21-1408-4D13-BF0B-0D7013AD2D0C}"/>
              </a:ext>
            </a:extLst>
          </p:cNvPr>
          <p:cNvPicPr>
            <a:picLocks noGrp="1" noChangeAspect="1"/>
          </p:cNvPicPr>
          <p:nvPr>
            <p:ph type="pic" sz="quarter" idx="51"/>
          </p:nvPr>
        </p:nvPicPr>
        <p:blipFill rotWithShape="1">
          <a:blip r:embed="rId5"/>
          <a:srcRect/>
          <a:stretch/>
        </p:blipFill>
        <p:spPr/>
      </p:pic>
      <p:pic>
        <p:nvPicPr>
          <p:cNvPr id="28" name="Picture Placeholder 27">
            <a:extLst>
              <a:ext uri="{FF2B5EF4-FFF2-40B4-BE49-F238E27FC236}">
                <a16:creationId xmlns:a16="http://schemas.microsoft.com/office/drawing/2014/main" id="{B746A775-E65C-70F6-9DB4-E51F7F2DAECE}"/>
              </a:ext>
            </a:extLst>
          </p:cNvPr>
          <p:cNvPicPr>
            <a:picLocks noGrp="1" noChangeAspect="1"/>
          </p:cNvPicPr>
          <p:nvPr>
            <p:ph type="pic" sz="quarter" idx="50"/>
          </p:nvPr>
        </p:nvPicPr>
        <p:blipFill>
          <a:blip r:embed="rId6"/>
          <a:srcRect/>
          <a:stretch/>
        </p:blipFill>
        <p:spPr/>
      </p:pic>
      <p:sp>
        <p:nvSpPr>
          <p:cNvPr id="6" name="Freeform: Shape 11">
            <a:extLst>
              <a:ext uri="{FF2B5EF4-FFF2-40B4-BE49-F238E27FC236}">
                <a16:creationId xmlns:a16="http://schemas.microsoft.com/office/drawing/2014/main" id="{FE4CFB22-0F30-32DF-2722-9EAF7244F63D}"/>
              </a:ext>
              <a:ext uri="{C183D7F6-B498-43B3-948B-1728B52AA6E4}">
                <adec:decorative xmlns:adec="http://schemas.microsoft.com/office/drawing/2017/decorative" val="1"/>
              </a:ext>
            </a:extLst>
          </p:cNvPr>
          <p:cNvSpPr/>
          <p:nvPr/>
        </p:nvSpPr>
        <p:spPr>
          <a:xfrm rot="19778348">
            <a:off x="1678035" y="355450"/>
            <a:ext cx="1279335" cy="14466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7" name="Freeform: Shape 11">
            <a:extLst>
              <a:ext uri="{FF2B5EF4-FFF2-40B4-BE49-F238E27FC236}">
                <a16:creationId xmlns:a16="http://schemas.microsoft.com/office/drawing/2014/main" id="{6A3F3633-45E8-51B0-8876-BDD693DFB1D6}"/>
              </a:ext>
              <a:ext uri="{C183D7F6-B498-43B3-948B-1728B52AA6E4}">
                <adec:decorative xmlns:adec="http://schemas.microsoft.com/office/drawing/2017/decorative" val="1"/>
              </a:ext>
            </a:extLst>
          </p:cNvPr>
          <p:cNvSpPr/>
          <p:nvPr/>
        </p:nvSpPr>
        <p:spPr>
          <a:xfrm rot="19836358">
            <a:off x="4041851" y="4491478"/>
            <a:ext cx="1279335" cy="14466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11">
            <a:extLst>
              <a:ext uri="{FF2B5EF4-FFF2-40B4-BE49-F238E27FC236}">
                <a16:creationId xmlns:a16="http://schemas.microsoft.com/office/drawing/2014/main" id="{207F6A6B-F222-8C2E-12AF-413ADFC17EAD}"/>
              </a:ext>
              <a:ext uri="{C183D7F6-B498-43B3-948B-1728B52AA6E4}">
                <adec:decorative xmlns:adec="http://schemas.microsoft.com/office/drawing/2017/decorative" val="1"/>
              </a:ext>
            </a:extLst>
          </p:cNvPr>
          <p:cNvSpPr/>
          <p:nvPr/>
        </p:nvSpPr>
        <p:spPr>
          <a:xfrm rot="19778348">
            <a:off x="1678035" y="1749881"/>
            <a:ext cx="1279335" cy="14466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rgbClr val="E7E6E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0" name="Freeform: Shape 11">
            <a:extLst>
              <a:ext uri="{FF2B5EF4-FFF2-40B4-BE49-F238E27FC236}">
                <a16:creationId xmlns:a16="http://schemas.microsoft.com/office/drawing/2014/main" id="{93708F25-EA9E-54FC-5818-21AA5087AE83}"/>
              </a:ext>
              <a:ext uri="{C183D7F6-B498-43B3-948B-1728B52AA6E4}">
                <adec:decorative xmlns:adec="http://schemas.microsoft.com/office/drawing/2017/decorative" val="1"/>
              </a:ext>
            </a:extLst>
          </p:cNvPr>
          <p:cNvSpPr/>
          <p:nvPr/>
        </p:nvSpPr>
        <p:spPr>
          <a:xfrm rot="19818952">
            <a:off x="1681651" y="3099315"/>
            <a:ext cx="1279335" cy="14466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2700" cap="flat" cmpd="sng" algn="ctr">
            <a:solidFill>
              <a:schemeClr val="accent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1" name="Freeform: Shape 11">
            <a:extLst>
              <a:ext uri="{FF2B5EF4-FFF2-40B4-BE49-F238E27FC236}">
                <a16:creationId xmlns:a16="http://schemas.microsoft.com/office/drawing/2014/main" id="{3D6914E8-E841-DFC6-1FB5-D345E5921B25}"/>
              </a:ext>
              <a:ext uri="{C183D7F6-B498-43B3-948B-1728B52AA6E4}">
                <adec:decorative xmlns:adec="http://schemas.microsoft.com/office/drawing/2017/decorative" val="1"/>
              </a:ext>
            </a:extLst>
          </p:cNvPr>
          <p:cNvSpPr/>
          <p:nvPr/>
        </p:nvSpPr>
        <p:spPr>
          <a:xfrm rot="19847751">
            <a:off x="2862545" y="3776885"/>
            <a:ext cx="1279335" cy="14647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rgbClr val="334D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2" name="Freeform: Shape 11">
            <a:extLst>
              <a:ext uri="{FF2B5EF4-FFF2-40B4-BE49-F238E27FC236}">
                <a16:creationId xmlns:a16="http://schemas.microsoft.com/office/drawing/2014/main" id="{095C392D-E084-60CD-5596-8DCB9226B153}"/>
              </a:ext>
              <a:ext uri="{C183D7F6-B498-43B3-948B-1728B52AA6E4}">
                <adec:decorative xmlns:adec="http://schemas.microsoft.com/office/drawing/2017/decorative" val="1"/>
              </a:ext>
            </a:extLst>
          </p:cNvPr>
          <p:cNvSpPr/>
          <p:nvPr/>
        </p:nvSpPr>
        <p:spPr>
          <a:xfrm rot="19784672">
            <a:off x="2852270" y="5184813"/>
            <a:ext cx="1279335" cy="148232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rgbClr val="E7E6E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3" name="Freeform: Shape 12">
            <a:extLst>
              <a:ext uri="{FF2B5EF4-FFF2-40B4-BE49-F238E27FC236}">
                <a16:creationId xmlns:a16="http://schemas.microsoft.com/office/drawing/2014/main" id="{D7290314-41A1-D91C-99BF-CBB25A55EFED}"/>
              </a:ext>
              <a:ext uri="{C183D7F6-B498-43B3-948B-1728B52AA6E4}">
                <adec:decorative xmlns:adec="http://schemas.microsoft.com/office/drawing/2017/decorative" val="1"/>
              </a:ext>
            </a:extLst>
          </p:cNvPr>
          <p:cNvSpPr/>
          <p:nvPr/>
        </p:nvSpPr>
        <p:spPr>
          <a:xfrm rot="19784672">
            <a:off x="4055488" y="5834846"/>
            <a:ext cx="1279335" cy="148232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rgbClr val="DCE9F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Hexagon Light Presentation_win32_v5" id="{045A9B2F-7300-4673-816B-F1EB3C673B2C}" vid="{27F8BD87-6984-44CA-8D4F-354B20CB0C1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0AD9BE2-6B3D-4616-B044-300A8177DEA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4CFA8B0-C7B8-4655-A378-2962C04794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5515263-A3DE-4193-B6AA-5C449C94519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light</Template>
  <TotalTime>2237</TotalTime>
  <Words>1117</Words>
  <Application>Microsoft Office PowerPoint</Application>
  <PresentationFormat>Widescreen</PresentationFormat>
  <Paragraphs>194</Paragraphs>
  <Slides>15</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等线</vt:lpstr>
      <vt:lpstr>Abadi</vt:lpstr>
      <vt:lpstr>Arial</vt:lpstr>
      <vt:lpstr>Calibri</vt:lpstr>
      <vt:lpstr>Posterama</vt:lpstr>
      <vt:lpstr>Posterama Text Black</vt:lpstr>
      <vt:lpstr>Posterama Text SemiBold</vt:lpstr>
      <vt:lpstr>Custom​​</vt:lpstr>
      <vt:lpstr>PowerPoint Presentation</vt:lpstr>
      <vt:lpstr>Agenda</vt:lpstr>
      <vt:lpstr>Objectives</vt:lpstr>
      <vt:lpstr>Dataset Overview</vt:lpstr>
      <vt:lpstr>Data Cleaning</vt:lpstr>
      <vt:lpstr>Calculated Columns</vt:lpstr>
      <vt:lpstr>Chart Specifications</vt:lpstr>
      <vt:lpstr>PowerPoint Presentation</vt:lpstr>
      <vt:lpstr>PowerPoint Presentation</vt:lpstr>
      <vt:lpstr>PowerPoint Presentation</vt:lpstr>
      <vt:lpstr>PowerPoint Presentation</vt:lpstr>
      <vt:lpstr>Key Insights &amp; Recommendation</vt:lpstr>
      <vt:lpstr>Summary</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dasdorothy77@gmail.com</dc:creator>
  <cp:lastModifiedBy>dasdorothy77@gmail.com</cp:lastModifiedBy>
  <cp:revision>18</cp:revision>
  <dcterms:created xsi:type="dcterms:W3CDTF">2026-10-05T10:34:58Z</dcterms:created>
  <dcterms:modified xsi:type="dcterms:W3CDTF">2026-10-21T06:31:45Z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